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545088"/>
  <p:notesSz cx="6858000" cy="9144000"/>
  <p:defaultTextStyle>
    <a:defPPr>
      <a:defRPr lang="en-US"/>
    </a:defPPr>
    <a:lvl1pPr marL="0" algn="l" defTabSz="2119488" rtl="0" eaLnBrk="1" latinLnBrk="0" hangingPunct="1">
      <a:defRPr sz="4172" kern="1200">
        <a:solidFill>
          <a:schemeClr val="tx1"/>
        </a:solidFill>
        <a:latin typeface="+mn-lt"/>
        <a:ea typeface="+mn-ea"/>
        <a:cs typeface="+mn-cs"/>
      </a:defRPr>
    </a:lvl1pPr>
    <a:lvl2pPr marL="1059744" algn="l" defTabSz="2119488" rtl="0" eaLnBrk="1" latinLnBrk="0" hangingPunct="1">
      <a:defRPr sz="4172" kern="1200">
        <a:solidFill>
          <a:schemeClr val="tx1"/>
        </a:solidFill>
        <a:latin typeface="+mn-lt"/>
        <a:ea typeface="+mn-ea"/>
        <a:cs typeface="+mn-cs"/>
      </a:defRPr>
    </a:lvl2pPr>
    <a:lvl3pPr marL="2119488" algn="l" defTabSz="2119488" rtl="0" eaLnBrk="1" latinLnBrk="0" hangingPunct="1">
      <a:defRPr sz="4172" kern="1200">
        <a:solidFill>
          <a:schemeClr val="tx1"/>
        </a:solidFill>
        <a:latin typeface="+mn-lt"/>
        <a:ea typeface="+mn-ea"/>
        <a:cs typeface="+mn-cs"/>
      </a:defRPr>
    </a:lvl3pPr>
    <a:lvl4pPr marL="3179232" algn="l" defTabSz="2119488" rtl="0" eaLnBrk="1" latinLnBrk="0" hangingPunct="1">
      <a:defRPr sz="4172" kern="1200">
        <a:solidFill>
          <a:schemeClr val="tx1"/>
        </a:solidFill>
        <a:latin typeface="+mn-lt"/>
        <a:ea typeface="+mn-ea"/>
        <a:cs typeface="+mn-cs"/>
      </a:defRPr>
    </a:lvl4pPr>
    <a:lvl5pPr marL="4238976" algn="l" defTabSz="2119488" rtl="0" eaLnBrk="1" latinLnBrk="0" hangingPunct="1">
      <a:defRPr sz="4172" kern="1200">
        <a:solidFill>
          <a:schemeClr val="tx1"/>
        </a:solidFill>
        <a:latin typeface="+mn-lt"/>
        <a:ea typeface="+mn-ea"/>
        <a:cs typeface="+mn-cs"/>
      </a:defRPr>
    </a:lvl5pPr>
    <a:lvl6pPr marL="5298719" algn="l" defTabSz="2119488" rtl="0" eaLnBrk="1" latinLnBrk="0" hangingPunct="1">
      <a:defRPr sz="4172" kern="1200">
        <a:solidFill>
          <a:schemeClr val="tx1"/>
        </a:solidFill>
        <a:latin typeface="+mn-lt"/>
        <a:ea typeface="+mn-ea"/>
        <a:cs typeface="+mn-cs"/>
      </a:defRPr>
    </a:lvl6pPr>
    <a:lvl7pPr marL="6358463" algn="l" defTabSz="2119488" rtl="0" eaLnBrk="1" latinLnBrk="0" hangingPunct="1">
      <a:defRPr sz="4172" kern="1200">
        <a:solidFill>
          <a:schemeClr val="tx1"/>
        </a:solidFill>
        <a:latin typeface="+mn-lt"/>
        <a:ea typeface="+mn-ea"/>
        <a:cs typeface="+mn-cs"/>
      </a:defRPr>
    </a:lvl7pPr>
    <a:lvl8pPr marL="7418207" algn="l" defTabSz="2119488" rtl="0" eaLnBrk="1" latinLnBrk="0" hangingPunct="1">
      <a:defRPr sz="4172" kern="1200">
        <a:solidFill>
          <a:schemeClr val="tx1"/>
        </a:solidFill>
        <a:latin typeface="+mn-lt"/>
        <a:ea typeface="+mn-ea"/>
        <a:cs typeface="+mn-cs"/>
      </a:defRPr>
    </a:lvl8pPr>
    <a:lvl9pPr marL="8477951" algn="l" defTabSz="2119488" rtl="0" eaLnBrk="1" latinLnBrk="0" hangingPunct="1">
      <a:defRPr sz="417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33" d="100"/>
          <a:sy n="33" d="100"/>
        </p:scale>
        <p:origin x="1622" y="-2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98932"/>
            <a:ext cx="18176081" cy="10634216"/>
          </a:xfrm>
        </p:spPr>
        <p:txBody>
          <a:bodyPr anchor="b"/>
          <a:lstStyle>
            <a:lvl1pPr algn="ctr">
              <a:defRPr sz="14031"/>
            </a:lvl1pPr>
          </a:lstStyle>
          <a:p>
            <a:r>
              <a:rPr lang="en-US"/>
              <a:t>Click to edit Master title style</a:t>
            </a:r>
            <a:endParaRPr lang="en-US" dirty="0"/>
          </a:p>
        </p:txBody>
      </p:sp>
      <p:sp>
        <p:nvSpPr>
          <p:cNvPr id="3" name="Subtitle 2"/>
          <p:cNvSpPr>
            <a:spLocks noGrp="1"/>
          </p:cNvSpPr>
          <p:nvPr>
            <p:ph type="subTitle" idx="1"/>
          </p:nvPr>
        </p:nvSpPr>
        <p:spPr>
          <a:xfrm>
            <a:off x="2672953" y="16043244"/>
            <a:ext cx="16037719" cy="7374657"/>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24-04-2026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81284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24-04-2026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1008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615069"/>
            <a:ext cx="18443377" cy="12705906"/>
          </a:xfrm>
        </p:spPr>
        <p:txBody>
          <a:bodyPr anchor="b"/>
          <a:lstStyle>
            <a:lvl1pPr>
              <a:defRPr sz="14031"/>
            </a:lvl1pPr>
          </a:lstStyle>
          <a:p>
            <a:r>
              <a:rPr lang="en-US"/>
              <a:t>Click to edit Master title style</a:t>
            </a:r>
            <a:endParaRPr lang="en-US" dirty="0"/>
          </a:p>
        </p:txBody>
      </p:sp>
      <p:sp>
        <p:nvSpPr>
          <p:cNvPr id="3" name="Text Placeholder 2"/>
          <p:cNvSpPr>
            <a:spLocks noGrp="1"/>
          </p:cNvSpPr>
          <p:nvPr>
            <p:ph type="body" idx="1"/>
          </p:nvPr>
        </p:nvSpPr>
        <p:spPr>
          <a:xfrm>
            <a:off x="1458988" y="20441178"/>
            <a:ext cx="18443377" cy="6681736"/>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3E2C6-8CDE-4FA4-9434-0173729C9153}" type="datetimeFigureOut">
              <a:rPr lang="en-IN" smtClean="0"/>
              <a:t>24-04-2026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035159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124"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25460" y="8131215"/>
            <a:ext cx="9088041" cy="19380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53E2C6-8CDE-4FA4-9434-0173729C9153}" type="datetimeFigureOut">
              <a:rPr lang="en-IN" smtClean="0"/>
              <a:t>24-04-2026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42816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26250"/>
            <a:ext cx="18443377" cy="59039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2912" y="7487791"/>
            <a:ext cx="9046274"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157442"/>
            <a:ext cx="9046274"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25461" y="7487791"/>
            <a:ext cx="9090826" cy="3669651"/>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157442"/>
            <a:ext cx="9090826" cy="16410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53E2C6-8CDE-4FA4-9434-0173729C9153}" type="datetimeFigureOut">
              <a:rPr lang="en-IN" smtClean="0"/>
              <a:t>24-04-2026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5705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53E2C6-8CDE-4FA4-9434-0173729C9153}" type="datetimeFigureOut">
              <a:rPr lang="en-IN" smtClean="0"/>
              <a:t>24-04-2026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11260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3E2C6-8CDE-4FA4-9434-0173729C9153}" type="datetimeFigureOut">
              <a:rPr lang="en-IN" smtClean="0"/>
              <a:t>24-04-2026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20981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Content Placeholder 2"/>
          <p:cNvSpPr>
            <a:spLocks noGrp="1"/>
          </p:cNvSpPr>
          <p:nvPr>
            <p:ph idx="1"/>
          </p:nvPr>
        </p:nvSpPr>
        <p:spPr>
          <a:xfrm>
            <a:off x="9090826" y="4397934"/>
            <a:ext cx="10825460" cy="21706810"/>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24-04-2026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42593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36339"/>
            <a:ext cx="6896776" cy="7127187"/>
          </a:xfrm>
        </p:spPr>
        <p:txBody>
          <a:bodyPr anchor="b"/>
          <a:lstStyle>
            <a:lvl1pPr>
              <a:defRPr sz="7483"/>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0826" y="4397934"/>
            <a:ext cx="10825460" cy="21706810"/>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dirty="0"/>
              <a:t>Click icon to add picture</a:t>
            </a:r>
          </a:p>
        </p:txBody>
      </p:sp>
      <p:sp>
        <p:nvSpPr>
          <p:cNvPr id="4" name="Text Placeholder 3"/>
          <p:cNvSpPr>
            <a:spLocks noGrp="1"/>
          </p:cNvSpPr>
          <p:nvPr>
            <p:ph type="body" sz="half" idx="2"/>
          </p:nvPr>
        </p:nvSpPr>
        <p:spPr>
          <a:xfrm>
            <a:off x="1472909" y="9163526"/>
            <a:ext cx="6896776" cy="16976566"/>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t>24-04-2026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42848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24-04-2026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3990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26243"/>
            <a:ext cx="4610844" cy="258855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125" y="1626243"/>
            <a:ext cx="13565237" cy="25885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t>24-04-2026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t>‹#›</a:t>
            </a:fld>
            <a:endParaRPr lang="en-IN" dirty="0"/>
          </a:p>
        </p:txBody>
      </p:sp>
    </p:spTree>
    <p:extLst>
      <p:ext uri="{BB962C8B-B14F-4D97-AF65-F5344CB8AC3E}">
        <p14:creationId xmlns:p14="http://schemas.microsoft.com/office/powerpoint/2010/main" val="71007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26250"/>
            <a:ext cx="18443377" cy="59039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124" y="8131215"/>
            <a:ext cx="18443377" cy="193805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124" y="28310778"/>
            <a:ext cx="4811316" cy="1626243"/>
          </a:xfrm>
          <a:prstGeom prst="rect">
            <a:avLst/>
          </a:prstGeom>
        </p:spPr>
        <p:txBody>
          <a:bodyPr vert="horz" lIns="91440" tIns="45720" rIns="91440" bIns="45720" rtlCol="0" anchor="ctr"/>
          <a:lstStyle>
            <a:lvl1pPr algn="l">
              <a:defRPr sz="2806">
                <a:solidFill>
                  <a:schemeClr val="tx1">
                    <a:tint val="75000"/>
                  </a:schemeClr>
                </a:solidFill>
              </a:defRPr>
            </a:lvl1pPr>
          </a:lstStyle>
          <a:p>
            <a:fld id="{8453E2C6-8CDE-4FA4-9434-0173729C9153}" type="datetimeFigureOut">
              <a:rPr lang="en-IN" smtClean="0"/>
              <a:t>24-04-2026</a:t>
            </a:fld>
            <a:endParaRPr lang="en-IN" dirty="0"/>
          </a:p>
        </p:txBody>
      </p:sp>
      <p:sp>
        <p:nvSpPr>
          <p:cNvPr id="5" name="Footer Placeholder 4"/>
          <p:cNvSpPr>
            <a:spLocks noGrp="1"/>
          </p:cNvSpPr>
          <p:nvPr>
            <p:ph type="ftr" sz="quarter" idx="3"/>
          </p:nvPr>
        </p:nvSpPr>
        <p:spPr>
          <a:xfrm>
            <a:off x="7083326" y="28310778"/>
            <a:ext cx="7216973" cy="1626243"/>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102185" y="28310778"/>
            <a:ext cx="4811316" cy="1626243"/>
          </a:xfrm>
          <a:prstGeom prst="rect">
            <a:avLst/>
          </a:prstGeom>
        </p:spPr>
        <p:txBody>
          <a:bodyPr vert="horz" lIns="91440" tIns="45720" rIns="91440" bIns="45720" rtlCol="0" anchor="ctr"/>
          <a:lstStyle>
            <a:lvl1pPr algn="r">
              <a:defRPr sz="2806">
                <a:solidFill>
                  <a:schemeClr val="tx1">
                    <a:tint val="75000"/>
                  </a:schemeClr>
                </a:solidFill>
              </a:defRPr>
            </a:lvl1pPr>
          </a:lstStyle>
          <a:p>
            <a:fld id="{AA8FA1BF-A921-4444-88C6-9EFD5BFD1773}" type="slidenum">
              <a:rPr lang="en-IN" smtClean="0"/>
              <a:t>‹#›</a:t>
            </a:fld>
            <a:endParaRPr lang="en-IN" dirty="0"/>
          </a:p>
        </p:txBody>
      </p:sp>
    </p:spTree>
    <p:extLst>
      <p:ext uri="{BB962C8B-B14F-4D97-AF65-F5344CB8AC3E}">
        <p14:creationId xmlns:p14="http://schemas.microsoft.com/office/powerpoint/2010/main" val="28736146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emf"/><Relationship Id="rId11" Type="http://schemas.openxmlformats.org/officeDocument/2006/relationships/image" Target="../media/image10.jpe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9812" y="365760"/>
            <a:ext cx="20664000" cy="29556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itle 3"/>
          <p:cNvSpPr txBox="1">
            <a:spLocks/>
          </p:cNvSpPr>
          <p:nvPr/>
        </p:nvSpPr>
        <p:spPr>
          <a:xfrm>
            <a:off x="2709650" y="456475"/>
            <a:ext cx="18390340" cy="1133856"/>
          </a:xfrm>
          <a:prstGeom prst="rect">
            <a:avLst/>
          </a:prstGeom>
        </p:spPr>
        <p:txBody>
          <a:bodyPr vert="horz" lIns="91440" tIns="45720" rIns="91440" bIns="45720" rtlCol="0" anchor="ctr">
            <a:noAutofit/>
          </a:bodyPr>
          <a:lst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a:lstStyle>
          <a:p>
            <a:r>
              <a:rPr lang="en-US" sz="4800" dirty="0"/>
              <a:t>Evidence-Guided Multimodal Fake News Detection using Text-Image Consistency and External Knowledge</a:t>
            </a:r>
            <a:endParaRPr lang="en-IN" sz="4800" dirty="0"/>
          </a:p>
        </p:txBody>
      </p:sp>
      <p:sp>
        <p:nvSpPr>
          <p:cNvPr id="7" name="Text Placeholder 22"/>
          <p:cNvSpPr txBox="1">
            <a:spLocks/>
          </p:cNvSpPr>
          <p:nvPr/>
        </p:nvSpPr>
        <p:spPr>
          <a:xfrm>
            <a:off x="2633472" y="1773322"/>
            <a:ext cx="18390340" cy="692658"/>
          </a:xfrm>
          <a:prstGeom prst="rect">
            <a:avLst/>
          </a:prstGeom>
          <a:noFill/>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buNone/>
            </a:pPr>
            <a:r>
              <a:rPr lang="en-US" sz="4400" dirty="0"/>
              <a:t>School of Computer Science and Engineering – Winter Semester 2025 - 26</a:t>
            </a:r>
          </a:p>
        </p:txBody>
      </p:sp>
      <p:sp>
        <p:nvSpPr>
          <p:cNvPr id="10" name="Content Placeholder 10"/>
          <p:cNvSpPr txBox="1">
            <a:spLocks/>
          </p:cNvSpPr>
          <p:nvPr/>
        </p:nvSpPr>
        <p:spPr>
          <a:xfrm>
            <a:off x="359812" y="10955038"/>
            <a:ext cx="10350000" cy="18966722"/>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r>
              <a:rPr lang="en-IN" sz="2400" dirty="0"/>
              <a:t>This System Follows a structured multimodal pipeline that integrates textual  understanding, visual verification and evidence – based verification combined with LLM Reasoning on basis of improving fake news detection reliability.</a:t>
            </a:r>
          </a:p>
          <a:p>
            <a:r>
              <a:rPr lang="en-US" sz="2400" b="1" dirty="0"/>
              <a:t>1. Textual Semantic Representation: </a:t>
            </a:r>
            <a:r>
              <a:rPr lang="en-US" sz="2400" dirty="0"/>
              <a:t>The textual content of social media posts is processed using Sentence-BERT to generate dense semantic embeddings. This enables the system to capture contextual meaning and relationships between words, allowing accurate representation of the claim beyond simple keyword matching.</a:t>
            </a:r>
          </a:p>
          <a:p>
            <a:r>
              <a:rPr lang="en-US" sz="2400" b="1" dirty="0"/>
              <a:t>2. Image–Text Consistency Analysis: </a:t>
            </a:r>
            <a:r>
              <a:rPr lang="en-US" sz="2400" dirty="0"/>
              <a:t>To ensure the reliability of visual information, the system uses CLIP to evaluate the alignment between textual claims and associated images. By computing similarity scores in a shared embedding space, the system identifies whether the image supports or contradicts the given text.</a:t>
            </a:r>
          </a:p>
          <a:p>
            <a:r>
              <a:rPr lang="en-US" sz="2400" b="1" dirty="0"/>
              <a:t>3. Evidence Retrieval using RAG: </a:t>
            </a:r>
            <a:r>
              <a:rPr lang="en-US" sz="2400" dirty="0"/>
              <a:t>To validate the claim, a retrieval-based approach is employed where relevant documents are fetched from external knowledge sources. The SBERT embeddings are used as queries, and FAISS enables efficient similarity-based search to obtain supporting evidence.</a:t>
            </a:r>
          </a:p>
          <a:p>
            <a:r>
              <a:rPr lang="en-US" sz="2400" b="1" dirty="0"/>
              <a:t>4. Evidence Consistency Evaluation: </a:t>
            </a:r>
            <a:r>
              <a:rPr lang="en-US" sz="2400" dirty="0"/>
              <a:t>The retrieved evidence is further analyzed using a Natural Language Inference model to determine whether it supports or contradicts the claim. This step produces an evidence consistency score, improving the credibility of the system’s decision.</a:t>
            </a:r>
          </a:p>
          <a:p>
            <a:r>
              <a:rPr lang="en-US" sz="2400" b="1" dirty="0"/>
              <a:t>5. Feature Fusion and Classification: </a:t>
            </a:r>
            <a:r>
              <a:rPr lang="en-US" sz="2400" dirty="0"/>
              <a:t>All extracted features, including textual embeddings, image alignment scores, and evidence consistency, are combined into a unified representation. This is passed to a </a:t>
            </a:r>
            <a:r>
              <a:rPr lang="en-US" sz="2400" dirty="0" err="1"/>
              <a:t>LightGBM</a:t>
            </a:r>
            <a:r>
              <a:rPr lang="en-US" sz="2400" dirty="0"/>
              <a:t> classifier, which predicts whether the news is fake or real.</a:t>
            </a:r>
          </a:p>
          <a:p>
            <a:r>
              <a:rPr lang="en-US" sz="2400" b="1" dirty="0"/>
              <a:t>6. Explainability and Final Output: </a:t>
            </a:r>
            <a:r>
              <a:rPr lang="en-US" sz="2400" dirty="0"/>
              <a:t>An LLM-based layer generates human-readable explanations using the retrieved evidence. The final output includes prediction, confidence, supporting evidence, and explanation, making the system both accurate and interpretable.</a:t>
            </a:r>
          </a:p>
          <a:p>
            <a:endParaRPr lang="en-IN" sz="2400" dirty="0"/>
          </a:p>
        </p:txBody>
      </p:sp>
      <mc:AlternateContent xmlns:mc="http://schemas.openxmlformats.org/markup-compatibility/2006" xmlns:a14="http://schemas.microsoft.com/office/drawing/2010/main">
        <mc:Choice Requires="a14">
          <p:sp>
            <p:nvSpPr>
              <p:cNvPr id="11" name="Text Placeholder 68"/>
              <p:cNvSpPr txBox="1">
                <a:spLocks/>
              </p:cNvSpPr>
              <p:nvPr/>
            </p:nvSpPr>
            <p:spPr>
              <a:xfrm>
                <a:off x="10748679" y="3015252"/>
                <a:ext cx="10300822" cy="19782851"/>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The proposed evidence-guided multimodal framework was evaluated using the FakeReddit dataset with 20,000 samples. The system integrates textual, visual, and evidence-based features to improve classification performance.</a:t>
                </a:r>
              </a:p>
              <a:p>
                <a:r>
                  <a:rPr lang="en-IN" dirty="0"/>
                  <a:t>The final prediction is obtained using the </a:t>
                </a:r>
                <a:r>
                  <a:rPr lang="en-IN" dirty="0" err="1"/>
                  <a:t>LightGBM</a:t>
                </a:r>
                <a:r>
                  <a:rPr lang="en-IN" dirty="0"/>
                  <a:t> ensemble model, expressed as:</a:t>
                </a:r>
              </a:p>
              <a:p>
                <a:pPr/>
                <a14:m>
                  <m:oMathPara xmlns:m="http://schemas.openxmlformats.org/officeDocument/2006/math">
                    <m:oMathParaPr>
                      <m:jc m:val="centerGroup"/>
                    </m:oMathParaPr>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𝑦</m:t>
                          </m:r>
                        </m:e>
                      </m:acc>
                      <m:r>
                        <a:rPr lang="ar-AE">
                          <a:latin typeface="Cambria Math" panose="02040503050406030204" pitchFamily="18" charset="0"/>
                        </a:rPr>
                        <m:t>=</m:t>
                      </m:r>
                      <m:nary>
                        <m:naryPr>
                          <m:chr m:val="∑"/>
                          <m:grow m:val="on"/>
                          <m:ctrlPr>
                            <a:rPr lang="ar-AE" i="1">
                              <a:latin typeface="Cambria Math" panose="02040503050406030204" pitchFamily="18" charset="0"/>
                            </a:rPr>
                          </m:ctrlPr>
                        </m:naryPr>
                        <m:sub>
                          <m:r>
                            <a:rPr lang="ar-AE" i="1">
                              <a:latin typeface="Cambria Math" panose="02040503050406030204" pitchFamily="18" charset="0"/>
                            </a:rPr>
                            <m:t>𝑚</m:t>
                          </m:r>
                          <m:r>
                            <a:rPr lang="ar-AE">
                              <a:latin typeface="Cambria Math" panose="02040503050406030204" pitchFamily="18" charset="0"/>
                            </a:rPr>
                            <m:t>=</m:t>
                          </m:r>
                          <m:r>
                            <a:rPr lang="ar-AE">
                              <a:latin typeface="Cambria Math" panose="02040503050406030204" pitchFamily="18" charset="0"/>
                            </a:rPr>
                            <m:t>1</m:t>
                          </m:r>
                        </m:sub>
                        <m:sup>
                          <m:r>
                            <a:rPr lang="ar-AE" i="1">
                              <a:latin typeface="Cambria Math" panose="02040503050406030204" pitchFamily="18" charset="0"/>
                            </a:rPr>
                            <m:t>𝑀</m:t>
                          </m:r>
                        </m:sup>
                        <m:e>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𝑚</m:t>
                              </m:r>
                            </m:sub>
                          </m:sSub>
                        </m:e>
                      </m:nary>
                      <m:d>
                        <m:dPr>
                          <m:ctrlPr>
                            <a:rPr lang="ar-AE" i="1">
                              <a:latin typeface="Cambria Math" panose="02040503050406030204" pitchFamily="18" charset="0"/>
                            </a:rPr>
                          </m:ctrlPr>
                        </m:dPr>
                        <m:e>
                          <m:r>
                            <a:rPr lang="ar-AE" i="1">
                              <a:latin typeface="Cambria Math" panose="02040503050406030204" pitchFamily="18" charset="0"/>
                            </a:rPr>
                            <m:t>𝑥</m:t>
                          </m:r>
                        </m:e>
                      </m:d>
                    </m:oMath>
                  </m:oMathPara>
                </a14:m>
                <a:endParaRPr lang="ar-AE" dirty="0"/>
              </a:p>
              <a:p>
                <a:r>
                  <a:rPr lang="en-IN" dirty="0"/>
                  <a:t>where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𝑓</m:t>
                        </m:r>
                      </m:e>
                      <m:sub>
                        <m:r>
                          <a:rPr lang="ar-AE" i="1">
                            <a:latin typeface="Cambria Math" panose="02040503050406030204" pitchFamily="18" charset="0"/>
                          </a:rPr>
                          <m:t>𝑚</m:t>
                        </m:r>
                      </m:sub>
                    </m:sSub>
                    <m:d>
                      <m:dPr>
                        <m:ctrlPr>
                          <a:rPr lang="ar-AE" i="1">
                            <a:latin typeface="Cambria Math" panose="02040503050406030204" pitchFamily="18" charset="0"/>
                          </a:rPr>
                        </m:ctrlPr>
                      </m:dPr>
                      <m:e>
                        <m:r>
                          <a:rPr lang="ar-AE" i="1">
                            <a:latin typeface="Cambria Math" panose="02040503050406030204" pitchFamily="18" charset="0"/>
                          </a:rPr>
                          <m:t>𝑥</m:t>
                        </m:r>
                      </m:e>
                    </m:d>
                  </m:oMath>
                </a14:m>
                <a:r>
                  <a:rPr lang="en-IN" dirty="0"/>
                  <a:t>represents the prediction from each decision tree and </a:t>
                </a:r>
                <a14:m>
                  <m:oMath xmlns:m="http://schemas.openxmlformats.org/officeDocument/2006/math">
                    <m:r>
                      <a:rPr lang="en-IN" i="1">
                        <a:latin typeface="Cambria Math" panose="02040503050406030204" pitchFamily="18" charset="0"/>
                      </a:rPr>
                      <m:t>𝑀</m:t>
                    </m:r>
                  </m:oMath>
                </a14:m>
                <a:r>
                  <a:rPr lang="en-IN" dirty="0"/>
                  <a:t>is the number of trees. This allows the model to learn complex patterns from multimodal features.</a:t>
                </a:r>
              </a:p>
              <a:p>
                <a:pPr lvl="0"/>
                <a:r>
                  <a:rPr lang="en-US" b="1" dirty="0"/>
                  <a:t>RAG Retrieval Similarity</a:t>
                </a:r>
                <a:endParaRPr lang="en-IN" b="1" dirty="0"/>
              </a:p>
              <a:p>
                <a:r>
                  <a:rPr lang="en-US" dirty="0"/>
                  <a:t>The retrieved evidence module identifies the most supporting evidence by comparing claim embedding with evidence embeddings stored in FAISS index.</a:t>
                </a:r>
                <a:endParaRPr lang="en-IN" dirty="0"/>
              </a:p>
              <a:p>
                <a:r>
                  <a:rPr lang="en-US" dirty="0"/>
                  <a:t>The similarity between vectors is computed using Euclidean distance.</a:t>
                </a:r>
                <a:endParaRPr lang="en-IN" dirty="0"/>
              </a:p>
              <a:p>
                <a:pPr algn="ctr"/>
                <a:r>
                  <a:rPr lang="en-US" dirty="0"/>
                  <a:t>𝑑(𝑞, 𝑥𝑖) =∥ 𝑞 − 𝑥𝑖 ∥</a:t>
                </a:r>
                <a:r>
                  <a:rPr lang="en-US" baseline="-25000" dirty="0"/>
                  <a:t>2</a:t>
                </a:r>
              </a:p>
              <a:p>
                <a:r>
                  <a:rPr lang="en-US" dirty="0"/>
                  <a:t>Model Comparisons and Ablation study on Performance :</a:t>
                </a:r>
              </a:p>
              <a:p>
                <a:endParaRPr lang="en-US" dirty="0"/>
              </a:p>
              <a:p>
                <a:endParaRPr lang="en-US" dirty="0"/>
              </a:p>
              <a:p>
                <a:endParaRPr lang="en-US" dirty="0"/>
              </a:p>
              <a:p>
                <a:endParaRPr lang="en-US" dirty="0"/>
              </a:p>
              <a:p>
                <a:r>
                  <a:rPr lang="en-US" dirty="0"/>
                  <a:t>The ablation results highlight that the inclusion of RAG-based evidence retrieval contributes the most to performance improvement, while multimodal features further enhance accuracy.</a:t>
                </a:r>
              </a:p>
              <a:p>
                <a:endParaRPr lang="en-US" dirty="0"/>
              </a:p>
              <a:p>
                <a:endParaRPr lang="en-US" dirty="0"/>
              </a:p>
              <a:p>
                <a:endParaRPr lang="en-US" dirty="0"/>
              </a:p>
              <a:p>
                <a:endParaRPr lang="en-US" dirty="0"/>
              </a:p>
              <a:p>
                <a:r>
                  <a:rPr lang="en-US" dirty="0"/>
                  <a:t>The model achieved a validation accuracy of </a:t>
                </a:r>
                <a:r>
                  <a:rPr lang="en-US" b="1" dirty="0"/>
                  <a:t>90.30%</a:t>
                </a:r>
                <a:r>
                  <a:rPr lang="en-US" dirty="0"/>
                  <a:t>, demonstrating strong capability in detecting both fake and real news. These results indicate that combining multimodal features with evidence retrieval significantly improves detection reliability.</a:t>
                </a:r>
                <a:endParaRPr lang="en-US" baseline="-25000" dirty="0"/>
              </a:p>
              <a:p>
                <a:r>
                  <a:rPr lang="en-IN" dirty="0"/>
                  <a:t>  </a:t>
                </a:r>
              </a:p>
              <a:p>
                <a:endParaRPr lang="en-IN" dirty="0"/>
              </a:p>
              <a:p>
                <a:endParaRPr lang="en-IN" dirty="0"/>
              </a:p>
            </p:txBody>
          </p:sp>
        </mc:Choice>
        <mc:Fallback xmlns="">
          <p:sp>
            <p:nvSpPr>
              <p:cNvPr id="11" name="Text Placeholder 68"/>
              <p:cNvSpPr txBox="1">
                <a:spLocks noRot="1" noChangeAspect="1" noMove="1" noResize="1" noEditPoints="1" noAdjustHandles="1" noChangeArrowheads="1" noChangeShapeType="1" noTextEdit="1"/>
              </p:cNvSpPr>
              <p:nvPr/>
            </p:nvSpPr>
            <p:spPr>
              <a:xfrm>
                <a:off x="10748679" y="3015252"/>
                <a:ext cx="10300822" cy="19782851"/>
              </a:xfrm>
              <a:prstGeom prst="rect">
                <a:avLst/>
              </a:prstGeom>
              <a:blipFill>
                <a:blip r:embed="rId2"/>
                <a:stretch>
                  <a:fillRect l="-827" t="-400"/>
                </a:stretch>
              </a:blipFill>
              <a:ln w="15875">
                <a:solidFill>
                  <a:schemeClr val="accent1">
                    <a:shade val="50000"/>
                  </a:schemeClr>
                </a:solidFill>
              </a:ln>
            </p:spPr>
            <p:txBody>
              <a:bodyPr/>
              <a:lstStyle/>
              <a:p>
                <a:r>
                  <a:rPr lang="en-IN">
                    <a:noFill/>
                  </a:rPr>
                  <a:t> </a:t>
                </a:r>
              </a:p>
            </p:txBody>
          </p:sp>
        </mc:Fallback>
      </mc:AlternateContent>
      <p:sp>
        <p:nvSpPr>
          <p:cNvPr id="3" name="Rectangle 2"/>
          <p:cNvSpPr/>
          <p:nvPr/>
        </p:nvSpPr>
        <p:spPr>
          <a:xfrm>
            <a:off x="413417" y="6737576"/>
            <a:ext cx="3950056" cy="646331"/>
          </a:xfrm>
          <a:prstGeom prst="rect">
            <a:avLst/>
          </a:prstGeom>
        </p:spPr>
        <p:txBody>
          <a:bodyPr wrap="none">
            <a:spAutoFit/>
          </a:bodyPr>
          <a:lstStyle/>
          <a:p>
            <a:pPr algn="ctr"/>
            <a:r>
              <a:rPr lang="en-US" sz="3600" dirty="0"/>
              <a:t>Scope</a:t>
            </a:r>
            <a:r>
              <a:rPr lang="en-US" sz="3600" dirty="0">
                <a:solidFill>
                  <a:srgbClr val="FF0000"/>
                </a:solidFill>
              </a:rPr>
              <a:t> </a:t>
            </a:r>
            <a:r>
              <a:rPr lang="en-US" sz="3600" dirty="0"/>
              <a:t>of the Project</a:t>
            </a:r>
          </a:p>
        </p:txBody>
      </p:sp>
      <p:sp>
        <p:nvSpPr>
          <p:cNvPr id="12" name="Rectangle 11"/>
          <p:cNvSpPr/>
          <p:nvPr/>
        </p:nvSpPr>
        <p:spPr>
          <a:xfrm>
            <a:off x="10655812" y="2481980"/>
            <a:ext cx="1519840" cy="646331"/>
          </a:xfrm>
          <a:prstGeom prst="rect">
            <a:avLst/>
          </a:prstGeom>
        </p:spPr>
        <p:txBody>
          <a:bodyPr wrap="none">
            <a:spAutoFit/>
          </a:bodyPr>
          <a:lstStyle/>
          <a:p>
            <a:pPr algn="ctr"/>
            <a:r>
              <a:rPr lang="en-US" sz="3600" dirty="0"/>
              <a:t>Results</a:t>
            </a:r>
          </a:p>
        </p:txBody>
      </p:sp>
      <p:sp>
        <p:nvSpPr>
          <p:cNvPr id="13" name="Rectangle 12"/>
          <p:cNvSpPr/>
          <p:nvPr/>
        </p:nvSpPr>
        <p:spPr>
          <a:xfrm>
            <a:off x="359812" y="10298296"/>
            <a:ext cx="2706895" cy="646331"/>
          </a:xfrm>
          <a:prstGeom prst="rect">
            <a:avLst/>
          </a:prstGeom>
        </p:spPr>
        <p:txBody>
          <a:bodyPr wrap="none">
            <a:spAutoFit/>
          </a:bodyPr>
          <a:lstStyle/>
          <a:p>
            <a:r>
              <a:rPr lang="en-US" altLang="zh-CN" sz="3600" dirty="0"/>
              <a:t>Methodology</a:t>
            </a:r>
          </a:p>
        </p:txBody>
      </p:sp>
      <p:sp>
        <p:nvSpPr>
          <p:cNvPr id="14" name="Content Placeholder 10"/>
          <p:cNvSpPr txBox="1">
            <a:spLocks/>
          </p:cNvSpPr>
          <p:nvPr/>
        </p:nvSpPr>
        <p:spPr>
          <a:xfrm>
            <a:off x="283634" y="7410004"/>
            <a:ext cx="10426178" cy="2987868"/>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sz="2400" dirty="0"/>
              <a:t>This project focuses on detecting fake news by analyzing both textual content with associated images using multimodal approach.</a:t>
            </a:r>
          </a:p>
          <a:p>
            <a:r>
              <a:rPr lang="en-US" sz="2400" dirty="0"/>
              <a:t>It incorporates external evidence retrieval to verify the credibility of claims and improve decision reliability.</a:t>
            </a:r>
          </a:p>
          <a:p>
            <a:r>
              <a:rPr lang="en-US" sz="2400" dirty="0"/>
              <a:t>The system is designed to provide not only predictions but also explanations supported by retrieved evidence and applicable to social media content and can be extended for real time and largescale misinformation detection</a:t>
            </a:r>
          </a:p>
        </p:txBody>
      </p:sp>
      <p:sp>
        <p:nvSpPr>
          <p:cNvPr id="21" name="Text Placeholder 68"/>
          <p:cNvSpPr txBox="1">
            <a:spLocks/>
          </p:cNvSpPr>
          <p:nvPr/>
        </p:nvSpPr>
        <p:spPr>
          <a:xfrm>
            <a:off x="332812" y="2911397"/>
            <a:ext cx="10350000" cy="1968880"/>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US" dirty="0"/>
              <a:t>Social media has accelerated the spread of misinformation, where fake news often combines misleading text with manipulated or unrelated images. Traditional detection systems primarily rely on textual analysis and fail to verify claims using real-world evidence. This creates a gap in identifying credibility and providing explanations. To address this, a multimodal and evidence-driven approach is required for reliable fake news detection.</a:t>
            </a:r>
            <a:endParaRPr lang="en-IN" dirty="0"/>
          </a:p>
        </p:txBody>
      </p:sp>
      <p:sp>
        <p:nvSpPr>
          <p:cNvPr id="22" name="Rectangle 21"/>
          <p:cNvSpPr/>
          <p:nvPr/>
        </p:nvSpPr>
        <p:spPr>
          <a:xfrm>
            <a:off x="413417" y="2361027"/>
            <a:ext cx="2514919" cy="646331"/>
          </a:xfrm>
          <a:prstGeom prst="rect">
            <a:avLst/>
          </a:prstGeom>
        </p:spPr>
        <p:txBody>
          <a:bodyPr wrap="none">
            <a:spAutoFit/>
          </a:bodyPr>
          <a:lstStyle/>
          <a:p>
            <a:pPr algn="ctr"/>
            <a:r>
              <a:rPr lang="en-US" sz="3600" dirty="0"/>
              <a:t>Introduction</a:t>
            </a:r>
          </a:p>
        </p:txBody>
      </p:sp>
      <p:sp>
        <p:nvSpPr>
          <p:cNvPr id="27" name="Text Placeholder 68"/>
          <p:cNvSpPr txBox="1">
            <a:spLocks/>
          </p:cNvSpPr>
          <p:nvPr/>
        </p:nvSpPr>
        <p:spPr>
          <a:xfrm>
            <a:off x="10711901" y="23233255"/>
            <a:ext cx="10350000" cy="1834371"/>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pPr algn="just"/>
            <a:r>
              <a:rPr lang="en-US" dirty="0"/>
              <a:t>This work presents a multimodal fake news detection system that combines textual semantics, image–text consistency, and evidence verification. The integration of RAG and </a:t>
            </a:r>
            <a:r>
              <a:rPr lang="en-US" dirty="0" err="1"/>
              <a:t>LightGBM</a:t>
            </a:r>
            <a:r>
              <a:rPr lang="en-US" dirty="0"/>
              <a:t> improves reliability, while the explainability module enhances user understanding. The system demonstrates strong performance and practical applicability in real-world scenarios.</a:t>
            </a:r>
            <a:endParaRPr lang="en-IN" dirty="0"/>
          </a:p>
        </p:txBody>
      </p:sp>
      <p:sp>
        <p:nvSpPr>
          <p:cNvPr id="28" name="Rectangle 27"/>
          <p:cNvSpPr/>
          <p:nvPr/>
        </p:nvSpPr>
        <p:spPr>
          <a:xfrm>
            <a:off x="10718015" y="24980553"/>
            <a:ext cx="10362150" cy="4893647"/>
          </a:xfrm>
          <a:prstGeom prst="rect">
            <a:avLst/>
          </a:prstGeom>
        </p:spPr>
        <p:txBody>
          <a:bodyPr wrap="square">
            <a:spAutoFit/>
          </a:bodyPr>
          <a:lstStyle/>
          <a:p>
            <a:r>
              <a:rPr lang="en-US" sz="3600" dirty="0"/>
              <a:t>References</a:t>
            </a:r>
          </a:p>
          <a:p>
            <a:pPr lvl="0"/>
            <a:r>
              <a:rPr lang="en-US" sz="2400" dirty="0"/>
              <a:t>W. Benaouda, S. </a:t>
            </a:r>
            <a:r>
              <a:rPr lang="en-US" sz="2400" dirty="0" err="1"/>
              <a:t>Ouamour</a:t>
            </a:r>
            <a:r>
              <a:rPr lang="en-US" sz="2400" dirty="0"/>
              <a:t>, and H. Sayoud, “Comparison of CNN model with different machine learning models for fake news detection,” in </a:t>
            </a:r>
            <a:r>
              <a:rPr lang="en-US" sz="2400" i="1" dirty="0"/>
              <a:t>Proc. Int. Conf. Electrical, Computer, Telecommunication and Energy Technologies (</a:t>
            </a:r>
            <a:r>
              <a:rPr lang="en-US" sz="2400" i="1" dirty="0" err="1"/>
              <a:t>ECTETech</a:t>
            </a:r>
            <a:r>
              <a:rPr lang="en-US" sz="2400" i="1" dirty="0"/>
              <a:t>)</a:t>
            </a:r>
            <a:r>
              <a:rPr lang="en-US" sz="2400" dirty="0"/>
              <a:t>, 2024, pp. 1–6.</a:t>
            </a:r>
            <a:endParaRPr lang="en-IN" sz="2400" dirty="0"/>
          </a:p>
          <a:p>
            <a:pPr lvl="0" algn="just"/>
            <a:r>
              <a:rPr lang="en-US" sz="2400" dirty="0"/>
              <a:t>M. K. Çoban and G. Bakal, “NLP-driven fake news detection: A machine learning perspective,” in </a:t>
            </a:r>
            <a:r>
              <a:rPr lang="en-US" sz="2400" i="1" dirty="0"/>
              <a:t>Proc. Int. </a:t>
            </a:r>
            <a:r>
              <a:rPr lang="en-US" sz="2400" i="1" dirty="0" err="1"/>
              <a:t>Congr</a:t>
            </a:r>
            <a:r>
              <a:rPr lang="en-US" sz="2400" i="1" dirty="0"/>
              <a:t>. Human- Computer Interaction, Optimization and Robotic Applications (ICHORA)</a:t>
            </a:r>
            <a:r>
              <a:rPr lang="en-US" sz="2400" dirty="0"/>
              <a:t>, 2025, pp. 1–6.</a:t>
            </a:r>
            <a:endParaRPr lang="en-IN" sz="2400" dirty="0"/>
          </a:p>
          <a:p>
            <a:r>
              <a:rPr lang="en-US" sz="2400" b="1" dirty="0"/>
              <a:t>Demo Video Link:</a:t>
            </a:r>
          </a:p>
          <a:p>
            <a:endParaRPr lang="en-US" sz="2400" b="1" dirty="0"/>
          </a:p>
          <a:p>
            <a:r>
              <a:rPr lang="en-US" sz="2400" b="1" dirty="0"/>
              <a:t> </a:t>
            </a:r>
            <a:endParaRPr lang="en-US" sz="2400" dirty="0"/>
          </a:p>
          <a:p>
            <a:pPr algn="ctr"/>
            <a:endParaRPr lang="en-US" sz="3600" dirty="0"/>
          </a:p>
        </p:txBody>
      </p:sp>
      <p:sp>
        <p:nvSpPr>
          <p:cNvPr id="29" name="Rectangle 28"/>
          <p:cNvSpPr/>
          <p:nvPr/>
        </p:nvSpPr>
        <p:spPr>
          <a:xfrm>
            <a:off x="10682812" y="22709188"/>
            <a:ext cx="2233304" cy="646331"/>
          </a:xfrm>
          <a:prstGeom prst="rect">
            <a:avLst/>
          </a:prstGeom>
        </p:spPr>
        <p:txBody>
          <a:bodyPr wrap="none">
            <a:spAutoFit/>
          </a:bodyPr>
          <a:lstStyle/>
          <a:p>
            <a:pPr algn="ctr"/>
            <a:r>
              <a:rPr lang="en-US" sz="3600" dirty="0"/>
              <a:t>Conclusion</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168" y="389073"/>
            <a:ext cx="2142948" cy="2069595"/>
          </a:xfrm>
          <a:prstGeom prst="rect">
            <a:avLst/>
          </a:prstGeom>
        </p:spPr>
      </p:pic>
      <p:sp>
        <p:nvSpPr>
          <p:cNvPr id="24" name="Text Placeholder 68"/>
          <p:cNvSpPr txBox="1">
            <a:spLocks/>
          </p:cNvSpPr>
          <p:nvPr/>
        </p:nvSpPr>
        <p:spPr>
          <a:xfrm>
            <a:off x="413417" y="5397834"/>
            <a:ext cx="10350000" cy="1332748"/>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r>
              <a:rPr lang="en-IN" dirty="0"/>
              <a:t>The rapid spread of misinformation on social media, especially through combined text and images, makes detection challenging and unreliable. Where most existing models classify content without verifying factual correctness or providing clear explanations. This motivated the development of an evidence driven system.</a:t>
            </a:r>
          </a:p>
        </p:txBody>
      </p:sp>
      <p:sp>
        <p:nvSpPr>
          <p:cNvPr id="25" name="Rectangle 24"/>
          <p:cNvSpPr/>
          <p:nvPr/>
        </p:nvSpPr>
        <p:spPr>
          <a:xfrm>
            <a:off x="332812" y="4817591"/>
            <a:ext cx="2246321" cy="646331"/>
          </a:xfrm>
          <a:prstGeom prst="rect">
            <a:avLst/>
          </a:prstGeom>
        </p:spPr>
        <p:txBody>
          <a:bodyPr wrap="none">
            <a:spAutoFit/>
          </a:bodyPr>
          <a:lstStyle/>
          <a:p>
            <a:pPr algn="ctr"/>
            <a:r>
              <a:rPr lang="en-US" sz="3600" dirty="0"/>
              <a:t>Motivation</a:t>
            </a:r>
          </a:p>
        </p:txBody>
      </p:sp>
      <p:sp>
        <p:nvSpPr>
          <p:cNvPr id="4" name="TextBox 3">
            <a:extLst>
              <a:ext uri="{FF2B5EF4-FFF2-40B4-BE49-F238E27FC236}">
                <a16:creationId xmlns:a16="http://schemas.microsoft.com/office/drawing/2014/main" id="{CD7AD927-4A29-157D-4A38-E019900B94D9}"/>
              </a:ext>
            </a:extLst>
          </p:cNvPr>
          <p:cNvSpPr txBox="1"/>
          <p:nvPr/>
        </p:nvSpPr>
        <p:spPr>
          <a:xfrm>
            <a:off x="12013572" y="28916114"/>
            <a:ext cx="10267139" cy="1077218"/>
          </a:xfrm>
          <a:prstGeom prst="rect">
            <a:avLst/>
          </a:prstGeom>
          <a:noFill/>
        </p:spPr>
        <p:txBody>
          <a:bodyPr wrap="square" rtlCol="0">
            <a:spAutoFit/>
          </a:bodyPr>
          <a:lstStyle/>
          <a:p>
            <a:r>
              <a:rPr lang="en-IN" sz="3200" b="1" dirty="0"/>
              <a:t>Student </a:t>
            </a:r>
            <a:r>
              <a:rPr lang="en-IN" sz="3200" b="1" dirty="0" err="1"/>
              <a:t>RegNo</a:t>
            </a:r>
            <a:r>
              <a:rPr lang="en-IN" sz="3200" b="1" dirty="0"/>
              <a:t>, Name: </a:t>
            </a:r>
            <a:r>
              <a:rPr lang="en-IN" sz="3200" b="1" dirty="0" err="1"/>
              <a:t>M.Hari</a:t>
            </a:r>
            <a:r>
              <a:rPr lang="en-IN" sz="3200" b="1" dirty="0"/>
              <a:t> Srinivas (24MCB0045)</a:t>
            </a:r>
          </a:p>
          <a:p>
            <a:r>
              <a:rPr lang="en-IN" sz="3200" b="1" dirty="0"/>
              <a:t>Guide Name: Prof. Rakhi Mol V</a:t>
            </a:r>
          </a:p>
        </p:txBody>
      </p:sp>
      <p:pic>
        <p:nvPicPr>
          <p:cNvPr id="15" name="Image 1">
            <a:extLst>
              <a:ext uri="{FF2B5EF4-FFF2-40B4-BE49-F238E27FC236}">
                <a16:creationId xmlns:a16="http://schemas.microsoft.com/office/drawing/2014/main" id="{4A3C803F-0AC8-E298-D2CD-83EB9172548E}"/>
              </a:ext>
            </a:extLst>
          </p:cNvPr>
          <p:cNvPicPr>
            <a:picLocks/>
          </p:cNvPicPr>
          <p:nvPr/>
        </p:nvPicPr>
        <p:blipFill>
          <a:blip r:embed="rId4" cstate="print"/>
          <a:stretch>
            <a:fillRect/>
          </a:stretch>
        </p:blipFill>
        <p:spPr>
          <a:xfrm>
            <a:off x="2568116" y="11077294"/>
            <a:ext cx="5638038" cy="7088785"/>
          </a:xfrm>
          <a:prstGeom prst="rect">
            <a:avLst/>
          </a:prstGeom>
        </p:spPr>
      </p:pic>
      <p:pic>
        <p:nvPicPr>
          <p:cNvPr id="17" name="Image 13">
            <a:extLst>
              <a:ext uri="{FF2B5EF4-FFF2-40B4-BE49-F238E27FC236}">
                <a16:creationId xmlns:a16="http://schemas.microsoft.com/office/drawing/2014/main" id="{6E03EBA2-0D87-2C59-845D-175EC9778E6B}"/>
              </a:ext>
            </a:extLst>
          </p:cNvPr>
          <p:cNvPicPr>
            <a:picLocks/>
          </p:cNvPicPr>
          <p:nvPr/>
        </p:nvPicPr>
        <p:blipFill>
          <a:blip r:embed="rId5" cstate="print"/>
          <a:stretch>
            <a:fillRect/>
          </a:stretch>
        </p:blipFill>
        <p:spPr>
          <a:xfrm>
            <a:off x="16560039" y="14280806"/>
            <a:ext cx="4457923" cy="2733979"/>
          </a:xfrm>
          <a:prstGeom prst="rect">
            <a:avLst/>
          </a:prstGeom>
        </p:spPr>
      </p:pic>
      <p:pic>
        <p:nvPicPr>
          <p:cNvPr id="39" name="Picture 38">
            <a:extLst>
              <a:ext uri="{FF2B5EF4-FFF2-40B4-BE49-F238E27FC236}">
                <a16:creationId xmlns:a16="http://schemas.microsoft.com/office/drawing/2014/main" id="{1020B86C-023B-0923-50F8-54433966A829}"/>
              </a:ext>
            </a:extLst>
          </p:cNvPr>
          <p:cNvPicPr>
            <a:picLocks noChangeAspect="1"/>
          </p:cNvPicPr>
          <p:nvPr/>
        </p:nvPicPr>
        <p:blipFill>
          <a:blip r:embed="rId6"/>
          <a:stretch>
            <a:fillRect/>
          </a:stretch>
        </p:blipFill>
        <p:spPr>
          <a:xfrm>
            <a:off x="15078561" y="10875690"/>
            <a:ext cx="12375450" cy="2448662"/>
          </a:xfrm>
          <a:prstGeom prst="rect">
            <a:avLst/>
          </a:prstGeom>
        </p:spPr>
      </p:pic>
      <p:pic>
        <p:nvPicPr>
          <p:cNvPr id="42" name="Picture 41">
            <a:extLst>
              <a:ext uri="{FF2B5EF4-FFF2-40B4-BE49-F238E27FC236}">
                <a16:creationId xmlns:a16="http://schemas.microsoft.com/office/drawing/2014/main" id="{1C33D630-9AE1-10FB-2387-7918D940FD86}"/>
              </a:ext>
            </a:extLst>
          </p:cNvPr>
          <p:cNvPicPr>
            <a:picLocks noChangeAspect="1"/>
          </p:cNvPicPr>
          <p:nvPr/>
        </p:nvPicPr>
        <p:blipFill>
          <a:blip r:embed="rId7"/>
          <a:stretch>
            <a:fillRect/>
          </a:stretch>
        </p:blipFill>
        <p:spPr>
          <a:xfrm>
            <a:off x="10991153" y="10640791"/>
            <a:ext cx="3982006" cy="2581635"/>
          </a:xfrm>
          <a:prstGeom prst="rect">
            <a:avLst/>
          </a:prstGeom>
        </p:spPr>
      </p:pic>
      <p:pic>
        <p:nvPicPr>
          <p:cNvPr id="43" name="Image 3">
            <a:extLst>
              <a:ext uri="{FF2B5EF4-FFF2-40B4-BE49-F238E27FC236}">
                <a16:creationId xmlns:a16="http://schemas.microsoft.com/office/drawing/2014/main" id="{7AB84D3A-7BFF-D7B4-2ABC-9F55912AA0F9}"/>
              </a:ext>
            </a:extLst>
          </p:cNvPr>
          <p:cNvPicPr>
            <a:picLocks/>
          </p:cNvPicPr>
          <p:nvPr/>
        </p:nvPicPr>
        <p:blipFill>
          <a:blip r:embed="rId8" cstate="print"/>
          <a:stretch>
            <a:fillRect/>
          </a:stretch>
        </p:blipFill>
        <p:spPr>
          <a:xfrm>
            <a:off x="10879253" y="14647347"/>
            <a:ext cx="2985770" cy="2219325"/>
          </a:xfrm>
          <a:prstGeom prst="rect">
            <a:avLst/>
          </a:prstGeom>
        </p:spPr>
      </p:pic>
      <p:pic>
        <p:nvPicPr>
          <p:cNvPr id="44" name="Image 4">
            <a:extLst>
              <a:ext uri="{FF2B5EF4-FFF2-40B4-BE49-F238E27FC236}">
                <a16:creationId xmlns:a16="http://schemas.microsoft.com/office/drawing/2014/main" id="{3AD40A2D-B971-ED15-1760-7ECD04FDE3DD}"/>
              </a:ext>
            </a:extLst>
          </p:cNvPr>
          <p:cNvPicPr>
            <a:picLocks/>
          </p:cNvPicPr>
          <p:nvPr/>
        </p:nvPicPr>
        <p:blipFill>
          <a:blip r:embed="rId9" cstate="print"/>
          <a:stretch>
            <a:fillRect/>
          </a:stretch>
        </p:blipFill>
        <p:spPr>
          <a:xfrm>
            <a:off x="14039051" y="14647347"/>
            <a:ext cx="2346960" cy="2014220"/>
          </a:xfrm>
          <a:prstGeom prst="rect">
            <a:avLst/>
          </a:prstGeom>
        </p:spPr>
      </p:pic>
      <p:pic>
        <p:nvPicPr>
          <p:cNvPr id="46" name="Image 15">
            <a:extLst>
              <a:ext uri="{FF2B5EF4-FFF2-40B4-BE49-F238E27FC236}">
                <a16:creationId xmlns:a16="http://schemas.microsoft.com/office/drawing/2014/main" id="{21200DF9-FDD3-AC51-AAF6-4DAF18A551D7}"/>
              </a:ext>
            </a:extLst>
          </p:cNvPr>
          <p:cNvPicPr>
            <a:picLocks/>
          </p:cNvPicPr>
          <p:nvPr/>
        </p:nvPicPr>
        <p:blipFill>
          <a:blip r:embed="rId10" cstate="print"/>
          <a:stretch>
            <a:fillRect/>
          </a:stretch>
        </p:blipFill>
        <p:spPr>
          <a:xfrm>
            <a:off x="10933612" y="18630082"/>
            <a:ext cx="4097089" cy="4079106"/>
          </a:xfrm>
          <a:prstGeom prst="rect">
            <a:avLst/>
          </a:prstGeom>
        </p:spPr>
      </p:pic>
      <p:pic>
        <p:nvPicPr>
          <p:cNvPr id="47" name="Image 16">
            <a:extLst>
              <a:ext uri="{FF2B5EF4-FFF2-40B4-BE49-F238E27FC236}">
                <a16:creationId xmlns:a16="http://schemas.microsoft.com/office/drawing/2014/main" id="{EE584C8C-79E3-FC7F-F0C1-8C03CDDA832A}"/>
              </a:ext>
            </a:extLst>
          </p:cNvPr>
          <p:cNvPicPr>
            <a:picLocks/>
          </p:cNvPicPr>
          <p:nvPr/>
        </p:nvPicPr>
        <p:blipFill>
          <a:blip r:embed="rId11" cstate="print"/>
          <a:stretch>
            <a:fillRect/>
          </a:stretch>
        </p:blipFill>
        <p:spPr>
          <a:xfrm>
            <a:off x="16824196" y="18762083"/>
            <a:ext cx="3929607" cy="4079106"/>
          </a:xfrm>
          <a:prstGeom prst="rect">
            <a:avLst/>
          </a:prstGeom>
        </p:spPr>
      </p:pic>
      <p:pic>
        <p:nvPicPr>
          <p:cNvPr id="9" name="Picture 8">
            <a:extLst>
              <a:ext uri="{FF2B5EF4-FFF2-40B4-BE49-F238E27FC236}">
                <a16:creationId xmlns:a16="http://schemas.microsoft.com/office/drawing/2014/main" id="{E1D0547F-6CD5-4C90-37DD-29965E4931D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821142" y="28640619"/>
            <a:ext cx="1166741" cy="1166741"/>
          </a:xfrm>
          <a:prstGeom prst="rect">
            <a:avLst/>
          </a:prstGeom>
        </p:spPr>
      </p:pic>
    </p:spTree>
    <p:extLst>
      <p:ext uri="{BB962C8B-B14F-4D97-AF65-F5344CB8AC3E}">
        <p14:creationId xmlns:p14="http://schemas.microsoft.com/office/powerpoint/2010/main" val="3606041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ster_2016_m.potx" id="{C99F4834-73B2-44AB-9211-DD57E3EBE727}" vid="{C99B119E-4D31-4661-B76A-37761BBBC0B1}"/>
    </a:ext>
  </a:extLst>
</a:theme>
</file>

<file path=docProps/app.xml><?xml version="1.0" encoding="utf-8"?>
<Properties xmlns="http://schemas.openxmlformats.org/officeDocument/2006/extended-properties" xmlns:vt="http://schemas.openxmlformats.org/officeDocument/2006/docPropsVTypes">
  <Template/>
  <TotalTime>796</TotalTime>
  <Words>894</Words>
  <Application>Microsoft Office PowerPoint</Application>
  <PresentationFormat>Custom</PresentationFormat>
  <Paragraphs>61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Cambria Math</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Jayasankar Variyar</dc:creator>
  <cp:lastModifiedBy>Madakasira Hari Srinivas</cp:lastModifiedBy>
  <cp:revision>35</cp:revision>
  <dcterms:created xsi:type="dcterms:W3CDTF">2016-03-28T06:32:15Z</dcterms:created>
  <dcterms:modified xsi:type="dcterms:W3CDTF">2026-04-23T19:36:17Z</dcterms:modified>
</cp:coreProperties>
</file>