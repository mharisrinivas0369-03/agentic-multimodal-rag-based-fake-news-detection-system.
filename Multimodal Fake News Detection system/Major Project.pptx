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7" r:id="rId3"/>
    <p:sldId id="258" r:id="rId4"/>
    <p:sldId id="263" r:id="rId5"/>
    <p:sldId id="266" r:id="rId6"/>
    <p:sldId id="264" r:id="rId7"/>
    <p:sldId id="265" r:id="rId8"/>
    <p:sldId id="267" r:id="rId9"/>
    <p:sldId id="268" r:id="rId10"/>
    <p:sldId id="260" r:id="rId11"/>
    <p:sldId id="278" r:id="rId12"/>
    <p:sldId id="274" r:id="rId13"/>
    <p:sldId id="259" r:id="rId14"/>
    <p:sldId id="269" r:id="rId15"/>
    <p:sldId id="276" r:id="rId16"/>
    <p:sldId id="273" r:id="rId17"/>
    <p:sldId id="261" r:id="rId18"/>
    <p:sldId id="279" r:id="rId19"/>
    <p:sldId id="280" r:id="rId20"/>
    <p:sldId id="271" r:id="rId21"/>
    <p:sldId id="270" r:id="rId22"/>
    <p:sldId id="272"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Thursday, April 30,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9293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Thursday, April 30,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06150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Thursday, April 30,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6364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Thursday, April 30,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966436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Thursday, April 30,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44478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Thursday, April 30,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0005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Thursday, April 30,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15205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Thursday, April 30,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43851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Thursday, April 30,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18203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Thursday, April 30,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2073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Thursday, April 30,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395997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Thursday, April 30, 2026</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4082366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48550/arXiv.1911.03854" TargetMode="External"/><Relationship Id="rId2" Type="http://schemas.openxmlformats.org/officeDocument/2006/relationships/hyperlink" Target="https://www.kaggle.com/code/vanshikavmittal/fakeddit-multimodal-fake-news-classification/input"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emf"/><Relationship Id="rId7" Type="http://schemas.openxmlformats.org/officeDocument/2006/relationships/image" Target="../media/image10.png"/><Relationship Id="rId2" Type="http://schemas.openxmlformats.org/officeDocument/2006/relationships/package" Target="../embeddings/Microsoft_Word_Document.docx"/><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package" Target="../embeddings/Microsoft_Word_Document1.docx"/></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EEADC68-3E73-6406-ABF6-A2CAC9D68A2F}"/>
              </a:ext>
            </a:extLst>
          </p:cNvPr>
          <p:cNvSpPr txBox="1"/>
          <p:nvPr/>
        </p:nvSpPr>
        <p:spPr>
          <a:xfrm>
            <a:off x="768096" y="421197"/>
            <a:ext cx="10314432" cy="369332"/>
          </a:xfrm>
          <a:prstGeom prst="rect">
            <a:avLst/>
          </a:prstGeom>
          <a:noFill/>
        </p:spPr>
        <p:txBody>
          <a:bodyPr wrap="square">
            <a:spAutoFit/>
          </a:bodyPr>
          <a:lstStyle/>
          <a:p>
            <a:pPr algn="ctr"/>
            <a:r>
              <a:rPr lang="en-US" sz="1800" b="1" i="0" dirty="0">
                <a:solidFill>
                  <a:srgbClr val="212529"/>
                </a:solidFill>
                <a:effectLst/>
                <a:latin typeface="Arial Black" panose="020B0A04020102020204" pitchFamily="34" charset="0"/>
              </a:rPr>
              <a:t>MTECH - Computer Science and Engineering (Big Data Analytics)</a:t>
            </a:r>
            <a:endParaRPr lang="en-IN" sz="1800" b="1" dirty="0">
              <a:latin typeface="Arial Black" panose="020B0A04020102020204" pitchFamily="34" charset="0"/>
            </a:endParaRPr>
          </a:p>
        </p:txBody>
      </p:sp>
      <p:pic>
        <p:nvPicPr>
          <p:cNvPr id="1026" name="Picture 2" descr="VIT Logo - Vellore Institute of Technology - PNG Logo Vector ...">
            <a:extLst>
              <a:ext uri="{FF2B5EF4-FFF2-40B4-BE49-F238E27FC236}">
                <a16:creationId xmlns:a16="http://schemas.microsoft.com/office/drawing/2014/main" id="{D6A52E5F-980F-3560-E631-01C3886D5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4044" y="4990810"/>
            <a:ext cx="2340864" cy="11797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F327536-757A-D72D-6096-D91ED870951F}"/>
              </a:ext>
            </a:extLst>
          </p:cNvPr>
          <p:cNvSpPr txBox="1"/>
          <p:nvPr/>
        </p:nvSpPr>
        <p:spPr>
          <a:xfrm>
            <a:off x="691208" y="3947940"/>
            <a:ext cx="3972232" cy="830997"/>
          </a:xfrm>
          <a:prstGeom prst="rect">
            <a:avLst/>
          </a:prstGeom>
          <a:noFill/>
        </p:spPr>
        <p:txBody>
          <a:bodyPr wrap="square" rtlCol="0">
            <a:spAutoFit/>
          </a:bodyPr>
          <a:lstStyle/>
          <a:p>
            <a:pPr algn="just"/>
            <a:r>
              <a:rPr lang="en-IN" sz="2400" b="1" dirty="0">
                <a:latin typeface="Aparajita" panose="02020603050405020304" pitchFamily="18" charset="0"/>
                <a:cs typeface="Aparajita" panose="02020603050405020304" pitchFamily="18" charset="0"/>
              </a:rPr>
              <a:t>PRESENTED BY:</a:t>
            </a:r>
          </a:p>
          <a:p>
            <a:pPr algn="just"/>
            <a:r>
              <a:rPr lang="en-IN" sz="2400" b="1" dirty="0">
                <a:latin typeface="Aparajita" panose="02020603050405020304" pitchFamily="18" charset="0"/>
                <a:cs typeface="Aparajita" panose="02020603050405020304" pitchFamily="18" charset="0"/>
              </a:rPr>
              <a:t>M.HARI SRINIVAS – 24MCB0045</a:t>
            </a:r>
          </a:p>
        </p:txBody>
      </p:sp>
      <p:sp>
        <p:nvSpPr>
          <p:cNvPr id="8" name="TextBox 7">
            <a:extLst>
              <a:ext uri="{FF2B5EF4-FFF2-40B4-BE49-F238E27FC236}">
                <a16:creationId xmlns:a16="http://schemas.microsoft.com/office/drawing/2014/main" id="{A2A2A813-C8C6-3BDF-FA20-802EA7FD6BBA}"/>
              </a:ext>
            </a:extLst>
          </p:cNvPr>
          <p:cNvSpPr txBox="1"/>
          <p:nvPr/>
        </p:nvSpPr>
        <p:spPr>
          <a:xfrm>
            <a:off x="1330747" y="1674674"/>
            <a:ext cx="9527458" cy="1384995"/>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EVIDENCE GUIDED MULTIMODAL FAKE NEWS DETECTION USING TEXT – IMAGE CONSISTENCY AND EXTERNAL KNOWLEDGE</a:t>
            </a:r>
          </a:p>
        </p:txBody>
      </p:sp>
      <p:sp>
        <p:nvSpPr>
          <p:cNvPr id="10" name="TextBox 9">
            <a:extLst>
              <a:ext uri="{FF2B5EF4-FFF2-40B4-BE49-F238E27FC236}">
                <a16:creationId xmlns:a16="http://schemas.microsoft.com/office/drawing/2014/main" id="{7ADF0513-C770-601F-C699-361DDE2109BE}"/>
              </a:ext>
            </a:extLst>
          </p:cNvPr>
          <p:cNvSpPr txBox="1"/>
          <p:nvPr/>
        </p:nvSpPr>
        <p:spPr>
          <a:xfrm>
            <a:off x="7934960" y="3947940"/>
            <a:ext cx="4175433" cy="830997"/>
          </a:xfrm>
          <a:prstGeom prst="rect">
            <a:avLst/>
          </a:prstGeom>
          <a:noFill/>
        </p:spPr>
        <p:txBody>
          <a:bodyPr wrap="square" rtlCol="0">
            <a:spAutoFit/>
          </a:bodyPr>
          <a:lstStyle/>
          <a:p>
            <a:r>
              <a:rPr lang="en-IN" sz="2400" b="1" dirty="0">
                <a:latin typeface="Aparajita" panose="02020603050405020304" pitchFamily="18" charset="0"/>
                <a:cs typeface="Aparajita" panose="02020603050405020304" pitchFamily="18" charset="0"/>
              </a:rPr>
              <a:t>UNDER THE GUIDANCE:</a:t>
            </a:r>
            <a:br>
              <a:rPr lang="en-IN" sz="2400" b="1" dirty="0">
                <a:latin typeface="Aparajita" panose="02020603050405020304" pitchFamily="18" charset="0"/>
                <a:cs typeface="Aparajita" panose="02020603050405020304" pitchFamily="18" charset="0"/>
              </a:rPr>
            </a:br>
            <a:r>
              <a:rPr lang="en-IN" sz="2400" b="1" dirty="0">
                <a:latin typeface="Aparajita" panose="02020603050405020304" pitchFamily="18" charset="0"/>
                <a:cs typeface="Aparajita" panose="02020603050405020304" pitchFamily="18" charset="0"/>
              </a:rPr>
              <a:t>DR.V. RAKHI MOL(PHD) - SCOPE</a:t>
            </a:r>
          </a:p>
        </p:txBody>
      </p:sp>
    </p:spTree>
    <p:extLst>
      <p:ext uri="{BB962C8B-B14F-4D97-AF65-F5344CB8AC3E}">
        <p14:creationId xmlns:p14="http://schemas.microsoft.com/office/powerpoint/2010/main" val="3474804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771739-7969-BC63-C5C9-11AF6E2E2891}"/>
              </a:ext>
            </a:extLst>
          </p:cNvPr>
          <p:cNvSpPr txBox="1"/>
          <p:nvPr/>
        </p:nvSpPr>
        <p:spPr>
          <a:xfrm>
            <a:off x="1636776" y="356616"/>
            <a:ext cx="923544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SYNOPSIS</a:t>
            </a:r>
          </a:p>
        </p:txBody>
      </p:sp>
      <p:sp>
        <p:nvSpPr>
          <p:cNvPr id="6" name="TextBox 5">
            <a:extLst>
              <a:ext uri="{FF2B5EF4-FFF2-40B4-BE49-F238E27FC236}">
                <a16:creationId xmlns:a16="http://schemas.microsoft.com/office/drawing/2014/main" id="{C7566B43-2A9A-7B76-6950-D8E2D1F771F3}"/>
              </a:ext>
            </a:extLst>
          </p:cNvPr>
          <p:cNvSpPr txBox="1"/>
          <p:nvPr/>
        </p:nvSpPr>
        <p:spPr>
          <a:xfrm>
            <a:off x="713232" y="1234441"/>
            <a:ext cx="11274552" cy="3782061"/>
          </a:xfrm>
          <a:prstGeom prst="rect">
            <a:avLst/>
          </a:prstGeom>
          <a:noFill/>
        </p:spPr>
        <p:txBody>
          <a:bodyPr wrap="square">
            <a:spAutoFit/>
          </a:bodyPr>
          <a:lstStyle/>
          <a:p>
            <a:pPr algn="just">
              <a:lnSpc>
                <a:spcPct val="150000"/>
              </a:lnSpc>
              <a:buNone/>
            </a:pPr>
            <a:r>
              <a:rPr lang="en-US" dirty="0">
                <a:latin typeface="Times New Roman" panose="02020603050405020304" pitchFamily="18" charset="0"/>
                <a:cs typeface="Times New Roman" panose="02020603050405020304" pitchFamily="18" charset="0"/>
              </a:rPr>
              <a:t>This project focuses on improving the reliability of fake news detection by moving beyond traditional text-based approaches and introducing a more comprehensive verification process. Instead of relying only on patterns learned from data, the system attempts to understand the context of a news claim and validate it using multiple perspectives. It first analyzes the meaning of the text and checks whether the accompanying image is contextually relevant or misleading. To strengthen the decision-making process, the system retrieves related information from external knowledge sources and evaluates whether the claim is supported by credible evidence. These different insights are then combined to make a final prediction. In addition, the system provides a clear explanation of its decision, helping users understand the reasoning behind whether a piece of news is classified as fake or real. This approach makes the system more practical and trustworthy for real-world scenarios.</a:t>
            </a:r>
          </a:p>
        </p:txBody>
      </p:sp>
    </p:spTree>
    <p:extLst>
      <p:ext uri="{BB962C8B-B14F-4D97-AF65-F5344CB8AC3E}">
        <p14:creationId xmlns:p14="http://schemas.microsoft.com/office/powerpoint/2010/main" val="406937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3EC1DB-6629-3DA7-F29E-006A2B3E0A0F}"/>
              </a:ext>
            </a:extLst>
          </p:cNvPr>
          <p:cNvSpPr txBox="1"/>
          <p:nvPr/>
        </p:nvSpPr>
        <p:spPr>
          <a:xfrm>
            <a:off x="868680" y="457200"/>
            <a:ext cx="10396728"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B7D9F6DB-4EC7-8BCA-26C9-935421FFCA2A}"/>
              </a:ext>
            </a:extLst>
          </p:cNvPr>
          <p:cNvSpPr txBox="1"/>
          <p:nvPr/>
        </p:nvSpPr>
        <p:spPr>
          <a:xfrm>
            <a:off x="704088" y="1271016"/>
            <a:ext cx="10698480" cy="461305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Social media platforms enable the rapid and large-scale dissemination of information, allowing news to reach millions of users within a very short time.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Fake news often spreads faster than verified information due to sensational content, emotional language, and high user engagement.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Modern fake news frequently combines misleading textual claims with unrelated or manipulated images, increasing the complexity of detection.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fake news detection models primarily rely on pattern-based learning and lack factual grounding, which limits their reliability on unseen or evolving content.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Explainability has become a critical requirement, as users and authorities must understand why a piece of information is classified as fake or real.</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576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C7A0F7-F74B-2EB4-0B5F-7805323E5AFA}"/>
              </a:ext>
            </a:extLst>
          </p:cNvPr>
          <p:cNvSpPr txBox="1"/>
          <p:nvPr/>
        </p:nvSpPr>
        <p:spPr>
          <a:xfrm>
            <a:off x="1553497" y="452284"/>
            <a:ext cx="8878529"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1D2AFC01-45C7-CF4D-3CEC-4A8EDD5A465A}"/>
              </a:ext>
            </a:extLst>
          </p:cNvPr>
          <p:cNvSpPr txBox="1"/>
          <p:nvPr/>
        </p:nvSpPr>
        <p:spPr>
          <a:xfrm>
            <a:off x="816077" y="1307690"/>
            <a:ext cx="10363200" cy="3368936"/>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Social media platforms generate an enormous volume of content every day, making manual verification of news impractical. Fake news often appears in the form of convincing text supported by misleading or unrelated images, which existing detection systems fail to analyze jointly. Many current approaches depend heavily on fully labeled datasets and struggle to adapt to new or unseen misinformation. In addition, the absence of factual verification mechanisms leads to low trust in automated predictions. This project addresses these challenges by developing a system capable of analyzing multimodal content, utilizing both labeled and unlabeled data, and grounding decisions in retrieved evidence to enable reliable and explainable fake news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425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2D21CB-390D-2DD9-B8DA-21129678438E}"/>
              </a:ext>
            </a:extLst>
          </p:cNvPr>
          <p:cNvSpPr txBox="1"/>
          <p:nvPr/>
        </p:nvSpPr>
        <p:spPr>
          <a:xfrm>
            <a:off x="1022555" y="412955"/>
            <a:ext cx="8573729"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OBJECTIVES </a:t>
            </a:r>
          </a:p>
        </p:txBody>
      </p:sp>
      <p:sp>
        <p:nvSpPr>
          <p:cNvPr id="3" name="TextBox 2">
            <a:extLst>
              <a:ext uri="{FF2B5EF4-FFF2-40B4-BE49-F238E27FC236}">
                <a16:creationId xmlns:a16="http://schemas.microsoft.com/office/drawing/2014/main" id="{E12BE4D7-25DF-F2DD-8FE1-99B13E55C95A}"/>
              </a:ext>
            </a:extLst>
          </p:cNvPr>
          <p:cNvSpPr txBox="1"/>
          <p:nvPr/>
        </p:nvSpPr>
        <p:spPr>
          <a:xfrm>
            <a:off x="599768" y="1268361"/>
            <a:ext cx="11179277" cy="4062651"/>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The primary objectives of this project are: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design a multimodal fake news detection system that jointly analyzes textual and visual content from social media posts.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Incorporate image–text consistency modeling using pretrained multimodal representations.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Integrate a retrieval-augmented evidence verification mechanism that grounds predictions in external factual sources.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 feature fusion strategy that combines textual features, visual consistency scores, and evidence consistency measures.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build a supervised classification model capable of producing reliable fake/real predictions with confidence scores.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provide explainable and evidence-backed reasoning using an LLM-based explainability module.</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Demonstrate the system through an interactive dashboard that supports real-time user input and output visualization.</a:t>
            </a:r>
          </a:p>
          <a:p>
            <a:endParaRPr lang="en-IN" dirty="0"/>
          </a:p>
        </p:txBody>
      </p:sp>
    </p:spTree>
    <p:extLst>
      <p:ext uri="{BB962C8B-B14F-4D97-AF65-F5344CB8AC3E}">
        <p14:creationId xmlns:p14="http://schemas.microsoft.com/office/powerpoint/2010/main" val="3948877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7A79A9-1890-42E3-9061-87691CC36ED5}"/>
              </a:ext>
            </a:extLst>
          </p:cNvPr>
          <p:cNvSpPr txBox="1"/>
          <p:nvPr/>
        </p:nvSpPr>
        <p:spPr>
          <a:xfrm>
            <a:off x="707234" y="125511"/>
            <a:ext cx="1033370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C8488FE9-5A40-AEEA-EEDA-2349087A6E44}"/>
              </a:ext>
            </a:extLst>
          </p:cNvPr>
          <p:cNvGraphicFramePr>
            <a:graphicFrameLocks noGrp="1"/>
          </p:cNvGraphicFramePr>
          <p:nvPr>
            <p:extLst>
              <p:ext uri="{D42A27DB-BD31-4B8C-83A1-F6EECF244321}">
                <p14:modId xmlns:p14="http://schemas.microsoft.com/office/powerpoint/2010/main" val="1639057958"/>
              </p:ext>
            </p:extLst>
          </p:nvPr>
        </p:nvGraphicFramePr>
        <p:xfrm>
          <a:off x="968478" y="776297"/>
          <a:ext cx="10653546" cy="5494527"/>
        </p:xfrm>
        <a:graphic>
          <a:graphicData uri="http://schemas.openxmlformats.org/drawingml/2006/table">
            <a:tbl>
              <a:tblPr firstRow="1" bandRow="1">
                <a:tableStyleId>{5C22544A-7EE6-4342-B048-85BDC9FD1C3A}</a:tableStyleId>
              </a:tblPr>
              <a:tblGrid>
                <a:gridCol w="2130709">
                  <a:extLst>
                    <a:ext uri="{9D8B030D-6E8A-4147-A177-3AD203B41FA5}">
                      <a16:colId xmlns:a16="http://schemas.microsoft.com/office/drawing/2014/main" val="1638979758"/>
                    </a:ext>
                  </a:extLst>
                </a:gridCol>
                <a:gridCol w="2190850">
                  <a:extLst>
                    <a:ext uri="{9D8B030D-6E8A-4147-A177-3AD203B41FA5}">
                      <a16:colId xmlns:a16="http://schemas.microsoft.com/office/drawing/2014/main" val="2871350660"/>
                    </a:ext>
                  </a:extLst>
                </a:gridCol>
                <a:gridCol w="2070569">
                  <a:extLst>
                    <a:ext uri="{9D8B030D-6E8A-4147-A177-3AD203B41FA5}">
                      <a16:colId xmlns:a16="http://schemas.microsoft.com/office/drawing/2014/main" val="987834773"/>
                    </a:ext>
                  </a:extLst>
                </a:gridCol>
                <a:gridCol w="2130709">
                  <a:extLst>
                    <a:ext uri="{9D8B030D-6E8A-4147-A177-3AD203B41FA5}">
                      <a16:colId xmlns:a16="http://schemas.microsoft.com/office/drawing/2014/main" val="330791886"/>
                    </a:ext>
                  </a:extLst>
                </a:gridCol>
                <a:gridCol w="2130709">
                  <a:extLst>
                    <a:ext uri="{9D8B030D-6E8A-4147-A177-3AD203B41FA5}">
                      <a16:colId xmlns:a16="http://schemas.microsoft.com/office/drawing/2014/main" val="3227199036"/>
                    </a:ext>
                  </a:extLst>
                </a:gridCol>
              </a:tblGrid>
              <a:tr h="350612">
                <a:tc>
                  <a:txBody>
                    <a:bodyPr/>
                    <a:lstStyle/>
                    <a:p>
                      <a:r>
                        <a:rPr lang="en-IN" dirty="0">
                          <a:latin typeface="Times New Roman" panose="02020603050405020304" pitchFamily="18" charset="0"/>
                          <a:cs typeface="Times New Roman" panose="02020603050405020304" pitchFamily="18" charset="0"/>
                        </a:rPr>
                        <a:t>Paper Title</a:t>
                      </a:r>
                    </a:p>
                  </a:txBody>
                  <a:tcPr/>
                </a:tc>
                <a:tc>
                  <a:txBody>
                    <a:bodyPr/>
                    <a:lstStyle/>
                    <a:p>
                      <a:r>
                        <a:rPr lang="en-IN" dirty="0">
                          <a:latin typeface="Times New Roman" panose="02020603050405020304" pitchFamily="18" charset="0"/>
                          <a:cs typeface="Times New Roman" panose="02020603050405020304" pitchFamily="18" charset="0"/>
                        </a:rPr>
                        <a:t>Author and Year</a:t>
                      </a:r>
                    </a:p>
                  </a:txBody>
                  <a:tcPr/>
                </a:tc>
                <a:tc>
                  <a:txBody>
                    <a:bodyPr/>
                    <a:lstStyle/>
                    <a:p>
                      <a:r>
                        <a:rPr lang="en-IN" dirty="0">
                          <a:latin typeface="Times New Roman" panose="02020603050405020304" pitchFamily="18" charset="0"/>
                          <a:cs typeface="Times New Roman" panose="02020603050405020304" pitchFamily="18" charset="0"/>
                        </a:rPr>
                        <a:t>Main Focus</a:t>
                      </a:r>
                    </a:p>
                  </a:txBody>
                  <a:tcPr/>
                </a:tc>
                <a:tc>
                  <a:txBody>
                    <a:bodyPr/>
                    <a:lstStyle/>
                    <a:p>
                      <a:r>
                        <a:rPr lang="en-IN" dirty="0">
                          <a:latin typeface="Times New Roman" panose="02020603050405020304" pitchFamily="18" charset="0"/>
                          <a:cs typeface="Times New Roman" panose="02020603050405020304" pitchFamily="18" charset="0"/>
                        </a:rPr>
                        <a:t>Methodology</a:t>
                      </a:r>
                    </a:p>
                  </a:txBody>
                  <a:tcPr/>
                </a:tc>
                <a:tc>
                  <a:txBody>
                    <a:bodyPr/>
                    <a:lstStyle/>
                    <a:p>
                      <a:r>
                        <a:rPr lang="en-IN"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464416099"/>
                  </a:ext>
                </a:extLst>
              </a:tr>
              <a:tr h="1665408">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Comparison of CNN Model with Different Machine Learning Models for Fake News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Benaouda et al. IEEE, 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Performance comparison of ML vs CNN for fake news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TF-IDF features, Logistic Regression, SVM, Random Forest, CNN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Text-</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only,no</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images, fully supervised, no explainability, dataset-specific generalization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2050392"/>
                  </a:ext>
                </a:extLst>
              </a:tr>
              <a:tr h="1928367">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NLP-Driven Fake News Detection: A Machine Learning Perspective</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Coban and Bakal IEEE, 2025</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NLP-based fake news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Bag-of-Words, TF-IDF, SVM, Naïve Bayes, Logistic Regression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Ignores visual content, no fact verification, no reasoning, sensitive to feature engineering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663618"/>
                  </a:ext>
                </a:extLst>
              </a:tr>
              <a:tr h="1402449">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Multi-Modal Fake News Detection with MF-BERT</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Reddy et al., IEEE, 2025</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Multimodal fake news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BERT (text) + CNN (image) + feature fusion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No factual grounding, no explainability, fully supervised, correlation-based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89338342"/>
                  </a:ext>
                </a:extLst>
              </a:tr>
            </a:tbl>
          </a:graphicData>
        </a:graphic>
      </p:graphicFrame>
    </p:spTree>
    <p:extLst>
      <p:ext uri="{BB962C8B-B14F-4D97-AF65-F5344CB8AC3E}">
        <p14:creationId xmlns:p14="http://schemas.microsoft.com/office/powerpoint/2010/main" val="3955446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ADB5D74-E6FC-3D4C-9DB3-A5C7A2838779}"/>
              </a:ext>
            </a:extLst>
          </p:cNvPr>
          <p:cNvGraphicFramePr>
            <a:graphicFrameLocks noGrp="1"/>
          </p:cNvGraphicFramePr>
          <p:nvPr>
            <p:extLst>
              <p:ext uri="{D42A27DB-BD31-4B8C-83A1-F6EECF244321}">
                <p14:modId xmlns:p14="http://schemas.microsoft.com/office/powerpoint/2010/main" val="2208771740"/>
              </p:ext>
            </p:extLst>
          </p:nvPr>
        </p:nvGraphicFramePr>
        <p:xfrm>
          <a:off x="965085" y="69164"/>
          <a:ext cx="10684370" cy="6088794"/>
        </p:xfrm>
        <a:graphic>
          <a:graphicData uri="http://schemas.openxmlformats.org/drawingml/2006/table">
            <a:tbl>
              <a:tblPr firstRow="1" bandRow="1">
                <a:tableStyleId>{5C22544A-7EE6-4342-B048-85BDC9FD1C3A}</a:tableStyleId>
              </a:tblPr>
              <a:tblGrid>
                <a:gridCol w="2136874">
                  <a:extLst>
                    <a:ext uri="{9D8B030D-6E8A-4147-A177-3AD203B41FA5}">
                      <a16:colId xmlns:a16="http://schemas.microsoft.com/office/drawing/2014/main" val="2595081348"/>
                    </a:ext>
                  </a:extLst>
                </a:gridCol>
                <a:gridCol w="2136874">
                  <a:extLst>
                    <a:ext uri="{9D8B030D-6E8A-4147-A177-3AD203B41FA5}">
                      <a16:colId xmlns:a16="http://schemas.microsoft.com/office/drawing/2014/main" val="915522266"/>
                    </a:ext>
                  </a:extLst>
                </a:gridCol>
                <a:gridCol w="2136874">
                  <a:extLst>
                    <a:ext uri="{9D8B030D-6E8A-4147-A177-3AD203B41FA5}">
                      <a16:colId xmlns:a16="http://schemas.microsoft.com/office/drawing/2014/main" val="2976869250"/>
                    </a:ext>
                  </a:extLst>
                </a:gridCol>
                <a:gridCol w="2136874">
                  <a:extLst>
                    <a:ext uri="{9D8B030D-6E8A-4147-A177-3AD203B41FA5}">
                      <a16:colId xmlns:a16="http://schemas.microsoft.com/office/drawing/2014/main" val="1015649447"/>
                    </a:ext>
                  </a:extLst>
                </a:gridCol>
                <a:gridCol w="2136874">
                  <a:extLst>
                    <a:ext uri="{9D8B030D-6E8A-4147-A177-3AD203B41FA5}">
                      <a16:colId xmlns:a16="http://schemas.microsoft.com/office/drawing/2014/main" val="620318583"/>
                    </a:ext>
                  </a:extLst>
                </a:gridCol>
              </a:tblGrid>
              <a:tr h="351003">
                <a:tc>
                  <a:txBody>
                    <a:bodyPr/>
                    <a:lstStyle/>
                    <a:p>
                      <a:r>
                        <a:rPr lang="en-IN" dirty="0">
                          <a:latin typeface="Times New Roman" panose="02020603050405020304" pitchFamily="18" charset="0"/>
                          <a:cs typeface="Times New Roman" panose="02020603050405020304" pitchFamily="18" charset="0"/>
                        </a:rPr>
                        <a:t>Paper Title</a:t>
                      </a:r>
                    </a:p>
                  </a:txBody>
                  <a:tcPr/>
                </a:tc>
                <a:tc>
                  <a:txBody>
                    <a:bodyPr/>
                    <a:lstStyle/>
                    <a:p>
                      <a:r>
                        <a:rPr lang="en-IN" dirty="0">
                          <a:latin typeface="Times New Roman" panose="02020603050405020304" pitchFamily="18" charset="0"/>
                          <a:cs typeface="Times New Roman" panose="02020603050405020304" pitchFamily="18" charset="0"/>
                        </a:rPr>
                        <a:t>Author and year</a:t>
                      </a:r>
                    </a:p>
                  </a:txBody>
                  <a:tcPr/>
                </a:tc>
                <a:tc>
                  <a:txBody>
                    <a:bodyPr/>
                    <a:lstStyle/>
                    <a:p>
                      <a:r>
                        <a:rPr lang="en-IN" dirty="0">
                          <a:latin typeface="Times New Roman" panose="02020603050405020304" pitchFamily="18" charset="0"/>
                          <a:cs typeface="Times New Roman" panose="02020603050405020304" pitchFamily="18" charset="0"/>
                        </a:rPr>
                        <a:t>Main Focus</a:t>
                      </a:r>
                    </a:p>
                  </a:txBody>
                  <a:tcPr/>
                </a:tc>
                <a:tc>
                  <a:txBody>
                    <a:bodyPr/>
                    <a:lstStyle/>
                    <a:p>
                      <a:r>
                        <a:rPr lang="en-IN" dirty="0">
                          <a:latin typeface="Times New Roman" panose="02020603050405020304" pitchFamily="18" charset="0"/>
                          <a:cs typeface="Times New Roman" panose="02020603050405020304" pitchFamily="18" charset="0"/>
                        </a:rPr>
                        <a:t>Methodology</a:t>
                      </a:r>
                    </a:p>
                  </a:txBody>
                  <a:tcPr/>
                </a:tc>
                <a:tc>
                  <a:txBody>
                    <a:bodyPr/>
                    <a:lstStyle/>
                    <a:p>
                      <a:r>
                        <a:rPr lang="en-IN"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645466881"/>
                  </a:ext>
                </a:extLst>
              </a:tr>
              <a:tr h="877507">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Multimodal Fake News Detection using CLIP</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Zhou et al., 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Image–text alignment for fake news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CLIP embeddings + classifier</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No external knowledge, no explainability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81083875"/>
                  </a:ext>
                </a:extLst>
              </a:tr>
              <a:tr h="1667263">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Graph Neural Networks for the Development of Efficient Fake News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Mishra et al., IEEE, 2025</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Propagation-based fake news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GNNs using social and diffusion graphs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Weak content understanding, no factual grounding, no multimodal reasoning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32887520"/>
                  </a:ext>
                </a:extLst>
              </a:tr>
              <a:tr h="1404011">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LLM-Based Fake News Detection Framework with RAG Fact-Checking</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Bai and Fu, IEEE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BigData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2024</a:t>
                      </a:r>
                      <a:endParaRPr lang="en-IN" b="1"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LLM + RAG-based fake news verification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Claim extraction + RAG + LLM inference</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Total dependency on LLM, no Graph propagation module with similarity</a:t>
                      </a:r>
                    </a:p>
                  </a:txBody>
                  <a:tcPr/>
                </a:tc>
                <a:extLst>
                  <a:ext uri="{0D108BD9-81ED-4DB2-BD59-A6C34878D82A}">
                    <a16:rowId xmlns:a16="http://schemas.microsoft.com/office/drawing/2014/main" val="1213612454"/>
                  </a:ext>
                </a:extLst>
              </a:tr>
              <a:tr h="1667263">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An Information Reliability Framework for Detecting Misinformation Based on LLMs</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Turaga et al., IEEE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BigData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2024</a:t>
                      </a:r>
                      <a:endParaRPr lang="en-IN" b="1"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Information reliability using LLMs and RAG</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LLM reasoning + retrieval-based evidence</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Text-only, no image analysis,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ni</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text image similarity, no virality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modeling</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734462352"/>
                  </a:ext>
                </a:extLst>
              </a:tr>
            </a:tbl>
          </a:graphicData>
        </a:graphic>
      </p:graphicFrame>
    </p:spTree>
    <p:extLst>
      <p:ext uri="{BB962C8B-B14F-4D97-AF65-F5344CB8AC3E}">
        <p14:creationId xmlns:p14="http://schemas.microsoft.com/office/powerpoint/2010/main" val="459149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925F63-83A2-EC46-2E7B-D5CB9875958B}"/>
              </a:ext>
            </a:extLst>
          </p:cNvPr>
          <p:cNvSpPr txBox="1"/>
          <p:nvPr/>
        </p:nvSpPr>
        <p:spPr>
          <a:xfrm>
            <a:off x="1163320" y="114407"/>
            <a:ext cx="986536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OVERALL EXPLANATION WITH DESIGN DIAGRAM</a:t>
            </a:r>
          </a:p>
        </p:txBody>
      </p:sp>
      <p:pic>
        <p:nvPicPr>
          <p:cNvPr id="2" name="Image 1">
            <a:extLst>
              <a:ext uri="{FF2B5EF4-FFF2-40B4-BE49-F238E27FC236}">
                <a16:creationId xmlns:a16="http://schemas.microsoft.com/office/drawing/2014/main" id="{B73A572B-081D-F007-40A0-DA3C6375773C}"/>
              </a:ext>
            </a:extLst>
          </p:cNvPr>
          <p:cNvPicPr>
            <a:picLocks/>
          </p:cNvPicPr>
          <p:nvPr/>
        </p:nvPicPr>
        <p:blipFill>
          <a:blip r:embed="rId2" cstate="print"/>
          <a:stretch>
            <a:fillRect/>
          </a:stretch>
        </p:blipFill>
        <p:spPr>
          <a:xfrm>
            <a:off x="4187952" y="699516"/>
            <a:ext cx="3611880" cy="5682996"/>
          </a:xfrm>
          <a:prstGeom prst="rect">
            <a:avLst/>
          </a:prstGeom>
        </p:spPr>
      </p:pic>
    </p:spTree>
    <p:extLst>
      <p:ext uri="{BB962C8B-B14F-4D97-AF65-F5344CB8AC3E}">
        <p14:creationId xmlns:p14="http://schemas.microsoft.com/office/powerpoint/2010/main" val="3946670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CB531C-8914-CE1C-0CD2-6F5C4562C9B1}"/>
              </a:ext>
            </a:extLst>
          </p:cNvPr>
          <p:cNvSpPr txBox="1"/>
          <p:nvPr/>
        </p:nvSpPr>
        <p:spPr>
          <a:xfrm>
            <a:off x="1310640" y="345440"/>
            <a:ext cx="924560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OVERALL EXPLANATION WITH DESIGN DIAGRAM</a:t>
            </a:r>
          </a:p>
        </p:txBody>
      </p:sp>
      <p:pic>
        <p:nvPicPr>
          <p:cNvPr id="3" name="Image 2">
            <a:extLst>
              <a:ext uri="{FF2B5EF4-FFF2-40B4-BE49-F238E27FC236}">
                <a16:creationId xmlns:a16="http://schemas.microsoft.com/office/drawing/2014/main" id="{3B830C38-ED1A-2B7C-0EDF-D4C03FFC59B1}"/>
              </a:ext>
            </a:extLst>
          </p:cNvPr>
          <p:cNvPicPr>
            <a:picLocks/>
          </p:cNvPicPr>
          <p:nvPr/>
        </p:nvPicPr>
        <p:blipFill>
          <a:blip r:embed="rId2" cstate="print"/>
          <a:stretch>
            <a:fillRect/>
          </a:stretch>
        </p:blipFill>
        <p:spPr>
          <a:xfrm>
            <a:off x="763524" y="2497455"/>
            <a:ext cx="3891597" cy="2777490"/>
          </a:xfrm>
          <a:prstGeom prst="rect">
            <a:avLst/>
          </a:prstGeom>
        </p:spPr>
      </p:pic>
      <p:sp>
        <p:nvSpPr>
          <p:cNvPr id="5" name="TextBox 4">
            <a:extLst>
              <a:ext uri="{FF2B5EF4-FFF2-40B4-BE49-F238E27FC236}">
                <a16:creationId xmlns:a16="http://schemas.microsoft.com/office/drawing/2014/main" id="{290B95BB-B400-F258-EB33-0420BF1A9556}"/>
              </a:ext>
            </a:extLst>
          </p:cNvPr>
          <p:cNvSpPr txBox="1"/>
          <p:nvPr/>
        </p:nvSpPr>
        <p:spPr>
          <a:xfrm>
            <a:off x="336804" y="1467614"/>
            <a:ext cx="960882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Conceptual Diagram of RAG Architecture</a:t>
            </a:r>
          </a:p>
        </p:txBody>
      </p:sp>
      <p:pic>
        <p:nvPicPr>
          <p:cNvPr id="4" name="Picture 3" descr="Large Language Models: SBERT — Sentence-BERT | by Vyacheslav Efimov | TDS  Archive | Medium">
            <a:extLst>
              <a:ext uri="{FF2B5EF4-FFF2-40B4-BE49-F238E27FC236}">
                <a16:creationId xmlns:a16="http://schemas.microsoft.com/office/drawing/2014/main" id="{22806C44-AB95-2D64-A103-204B1CA723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0656" y="1919605"/>
            <a:ext cx="5417820" cy="3355340"/>
          </a:xfrm>
          <a:prstGeom prst="rect">
            <a:avLst/>
          </a:prstGeom>
          <a:noFill/>
          <a:ln>
            <a:noFill/>
          </a:ln>
        </p:spPr>
      </p:pic>
      <p:sp>
        <p:nvSpPr>
          <p:cNvPr id="6" name="TextBox 5">
            <a:extLst>
              <a:ext uri="{FF2B5EF4-FFF2-40B4-BE49-F238E27FC236}">
                <a16:creationId xmlns:a16="http://schemas.microsoft.com/office/drawing/2014/main" id="{8B469BAE-CC8A-BD6A-8362-1B921335DD78}"/>
              </a:ext>
            </a:extLst>
          </p:cNvPr>
          <p:cNvSpPr txBox="1"/>
          <p:nvPr/>
        </p:nvSpPr>
        <p:spPr>
          <a:xfrm>
            <a:off x="7022592" y="1467614"/>
            <a:ext cx="516940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Sentence-BERT Diagram </a:t>
            </a:r>
          </a:p>
        </p:txBody>
      </p:sp>
    </p:spTree>
    <p:extLst>
      <p:ext uri="{BB962C8B-B14F-4D97-AF65-F5344CB8AC3E}">
        <p14:creationId xmlns:p14="http://schemas.microsoft.com/office/powerpoint/2010/main" val="1498900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4561F9-E117-0A13-59F8-90203D12C009}"/>
              </a:ext>
            </a:extLst>
          </p:cNvPr>
          <p:cNvSpPr txBox="1"/>
          <p:nvPr/>
        </p:nvSpPr>
        <p:spPr>
          <a:xfrm>
            <a:off x="731520" y="448056"/>
            <a:ext cx="10076688"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OVERALL EXPLANATION WITH DESIGN DIAGRAM</a:t>
            </a:r>
          </a:p>
        </p:txBody>
      </p:sp>
      <p:sp>
        <p:nvSpPr>
          <p:cNvPr id="3" name="TextBox 2">
            <a:extLst>
              <a:ext uri="{FF2B5EF4-FFF2-40B4-BE49-F238E27FC236}">
                <a16:creationId xmlns:a16="http://schemas.microsoft.com/office/drawing/2014/main" id="{73FA18D3-512A-81C4-CA7A-1B10AAD0FF2A}"/>
              </a:ext>
            </a:extLst>
          </p:cNvPr>
          <p:cNvSpPr txBox="1"/>
          <p:nvPr/>
        </p:nvSpPr>
        <p:spPr>
          <a:xfrm>
            <a:off x="375920" y="1229360"/>
            <a:ext cx="11287760" cy="4939814"/>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novelty of the proposed system lies in its three-level verification strategy. First, it evaluates semantic consistency between textual claims and associated images using a pretrained CLIP model, capturing misleading visual-contextual relationships. Second, it verifies textual claims against external factual sources through a retrieval-augmented generation (RAG) system that retrieves relevant evidence from knowledge bases such as Wikipedia and fact-check repositories. Third, it fuses these multimodal and evidence-based signals using a supervised learning model to generate robust predictions.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Furthermore, the system incorporates an LLM-based explainability module that translates model decisions into human-readable explanations grounded in retrieved evidence. This combination of multimodal consistency, factual grounding, and explainable reasoning distinguishes the proposed system from existing fake news detection approaches and enhances its applicability in real-world information verification scenarios.</a:t>
            </a:r>
          </a:p>
          <a:p>
            <a:endParaRPr lang="en-IN" dirty="0"/>
          </a:p>
        </p:txBody>
      </p:sp>
    </p:spTree>
    <p:extLst>
      <p:ext uri="{BB962C8B-B14F-4D97-AF65-F5344CB8AC3E}">
        <p14:creationId xmlns:p14="http://schemas.microsoft.com/office/powerpoint/2010/main" val="609090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7AF150-FFFE-7FB2-29A2-1B059AC5C4E2}"/>
              </a:ext>
            </a:extLst>
          </p:cNvPr>
          <p:cNvSpPr txBox="1"/>
          <p:nvPr/>
        </p:nvSpPr>
        <p:spPr>
          <a:xfrm>
            <a:off x="932688" y="265176"/>
            <a:ext cx="1025042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OVERALL EXPLANATION WITH DESIGN DIAGRAM</a:t>
            </a:r>
          </a:p>
        </p:txBody>
      </p:sp>
      <p:sp>
        <p:nvSpPr>
          <p:cNvPr id="6" name="Rectangle 1">
            <a:extLst>
              <a:ext uri="{FF2B5EF4-FFF2-40B4-BE49-F238E27FC236}">
                <a16:creationId xmlns:a16="http://schemas.microsoft.com/office/drawing/2014/main" id="{A75231A6-634B-4D41-C4D7-5AB672090688}"/>
              </a:ext>
            </a:extLst>
          </p:cNvPr>
          <p:cNvSpPr>
            <a:spLocks noChangeArrowheads="1"/>
          </p:cNvSpPr>
          <p:nvPr/>
        </p:nvSpPr>
        <p:spPr bwMode="auto">
          <a:xfrm>
            <a:off x="298704" y="644143"/>
            <a:ext cx="11594592" cy="5721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begins by taking a news headline along with its corresponding image as input, since fake news often combines both text and visuals.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textual part is processed using SBERT, which helps in understanding the actual meaning of the sentence rather than just keywords.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the same time, the CLIP model checks whether the image truly matches the context of the text or if it is misleading.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make the system more reliable, a RAG-based approach is used to fetch relevant information from external sources using FAISS.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retrieved evidence is then passed to an NLI model, which determines whether the claim is supported, contradicted, or unrelated.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these outputs - text understanding, image consistency, and evidence verification — are combined together in a feature fusion step.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a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uses this combined information to classify the news as fake or real, along with a confidence score. </a:t>
            </a:r>
          </a:p>
        </p:txBody>
      </p:sp>
    </p:spTree>
    <p:extLst>
      <p:ext uri="{BB962C8B-B14F-4D97-AF65-F5344CB8AC3E}">
        <p14:creationId xmlns:p14="http://schemas.microsoft.com/office/powerpoint/2010/main" val="160903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D134A3-2486-7511-BBC6-76FC554ED337}"/>
              </a:ext>
            </a:extLst>
          </p:cNvPr>
          <p:cNvSpPr txBox="1"/>
          <p:nvPr/>
        </p:nvSpPr>
        <p:spPr>
          <a:xfrm>
            <a:off x="2176272" y="420624"/>
            <a:ext cx="8988552"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DATA COLLECTION</a:t>
            </a:r>
          </a:p>
        </p:txBody>
      </p:sp>
      <p:sp>
        <p:nvSpPr>
          <p:cNvPr id="4" name="TextBox 3">
            <a:extLst>
              <a:ext uri="{FF2B5EF4-FFF2-40B4-BE49-F238E27FC236}">
                <a16:creationId xmlns:a16="http://schemas.microsoft.com/office/drawing/2014/main" id="{916EF3EE-8E28-8876-ACB8-67EADD82052D}"/>
              </a:ext>
            </a:extLst>
          </p:cNvPr>
          <p:cNvSpPr txBox="1"/>
          <p:nvPr/>
        </p:nvSpPr>
        <p:spPr>
          <a:xfrm>
            <a:off x="749808" y="1271016"/>
            <a:ext cx="9875520" cy="4613058"/>
          </a:xfrm>
          <a:prstGeom prst="rect">
            <a:avLst/>
          </a:prstGeom>
          <a:noFill/>
        </p:spPr>
        <p:txBody>
          <a:bodyPr wrap="square">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FakeReddit (</a:t>
            </a:r>
            <a:r>
              <a:rPr lang="en-US" b="1" dirty="0" err="1">
                <a:latin typeface="Times New Roman" panose="02020603050405020304" pitchFamily="18" charset="0"/>
                <a:cs typeface="Times New Roman" panose="02020603050405020304" pitchFamily="18" charset="0"/>
              </a:rPr>
              <a:t>Fakeddit</a:t>
            </a:r>
            <a:r>
              <a:rPr lang="en-US" b="1" dirty="0">
                <a:latin typeface="Times New Roman" panose="02020603050405020304" pitchFamily="18" charset="0"/>
                <a:cs typeface="Times New Roman" panose="02020603050405020304" pitchFamily="18" charset="0"/>
              </a:rPr>
              <a:t>) Dataset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FakeReddit (</a:t>
            </a:r>
            <a:r>
              <a:rPr lang="en-US" dirty="0" err="1">
                <a:latin typeface="Times New Roman" panose="02020603050405020304" pitchFamily="18" charset="0"/>
                <a:cs typeface="Times New Roman" panose="02020603050405020304" pitchFamily="18" charset="0"/>
              </a:rPr>
              <a:t>Fakeddit</a:t>
            </a:r>
            <a:r>
              <a:rPr lang="en-US" dirty="0">
                <a:latin typeface="Times New Roman" panose="02020603050405020304" pitchFamily="18" charset="0"/>
                <a:cs typeface="Times New Roman" panose="02020603050405020304" pitchFamily="18" charset="0"/>
              </a:rPr>
              <a:t>) dataset is a large-scale multimodal benchmark for fake news detection, consisting of over 100K Reddit posts with text, images, and metadata with 50k is used in training data.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sample includes a news headline, associated image, and labels for classification (binary or multi-class), enabling both unimodal and multimodal learning.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this project, a subset of ~20,000 samples is used, focusing on text (</a:t>
            </a:r>
            <a:r>
              <a:rPr lang="en-US" dirty="0" err="1">
                <a:latin typeface="Times New Roman" panose="02020603050405020304" pitchFamily="18" charset="0"/>
                <a:cs typeface="Times New Roman" panose="02020603050405020304" pitchFamily="18" charset="0"/>
              </a:rPr>
              <a:t>clean_title</a:t>
            </a:r>
            <a:r>
              <a:rPr lang="en-US" dirty="0">
                <a:latin typeface="Times New Roman" panose="02020603050405020304" pitchFamily="18" charset="0"/>
                <a:cs typeface="Times New Roman" panose="02020603050405020304" pitchFamily="18" charset="0"/>
              </a:rPr>
              <a:t>), image URLs, and binary labels for fake/real classification.</a:t>
            </a:r>
          </a:p>
          <a:p>
            <a:pPr algn="just">
              <a:lnSpc>
                <a:spcPct val="150000"/>
              </a:lnSpc>
              <a:buNone/>
            </a:pPr>
            <a:r>
              <a:rPr lang="en-US" dirty="0">
                <a:latin typeface="Times New Roman" panose="02020603050405020304" pitchFamily="18" charset="0"/>
                <a:cs typeface="Times New Roman" panose="02020603050405020304" pitchFamily="18" charset="0"/>
              </a:rPr>
              <a:t>Kaggle </a:t>
            </a:r>
            <a:r>
              <a:rPr lang="en-US" dirty="0" err="1">
                <a:latin typeface="Times New Roman" panose="02020603050405020304" pitchFamily="18" charset="0"/>
                <a:cs typeface="Times New Roman" panose="02020603050405020304" pitchFamily="18" charset="0"/>
              </a:rPr>
              <a:t>Fakereddit</a:t>
            </a:r>
            <a:r>
              <a:rPr lang="en-US" dirty="0">
                <a:latin typeface="Times New Roman" panose="02020603050405020304" pitchFamily="18" charset="0"/>
                <a:cs typeface="Times New Roman" panose="02020603050405020304" pitchFamily="18" charset="0"/>
              </a:rPr>
              <a:t> Dataset: </a:t>
            </a:r>
            <a:r>
              <a:rPr lang="en-US" dirty="0">
                <a:latin typeface="Times New Roman" panose="02020603050405020304" pitchFamily="18" charset="0"/>
                <a:cs typeface="Times New Roman" panose="02020603050405020304" pitchFamily="18" charset="0"/>
                <a:hlinkClick r:id="rId2"/>
              </a:rPr>
              <a:t>https://www.kaggle.com/code/vanshikavmittal/fakeddit-multimodal-fake-news-classification/input</a:t>
            </a:r>
            <a:endParaRPr lang="en-US" dirty="0">
              <a:latin typeface="Times New Roman" panose="02020603050405020304" pitchFamily="18" charset="0"/>
              <a:cs typeface="Times New Roman" panose="02020603050405020304" pitchFamily="18" charset="0"/>
            </a:endParaRPr>
          </a:p>
          <a:p>
            <a:pPr algn="just">
              <a:lnSpc>
                <a:spcPct val="150000"/>
              </a:lnSpc>
              <a:buNone/>
            </a:pPr>
            <a:r>
              <a:rPr lang="en-US" dirty="0" err="1">
                <a:latin typeface="Times New Roman" panose="02020603050405020304" pitchFamily="18" charset="0"/>
                <a:cs typeface="Times New Roman" panose="02020603050405020304" pitchFamily="18" charset="0"/>
              </a:rPr>
              <a:t>Fakereddit</a:t>
            </a:r>
            <a:r>
              <a:rPr lang="en-US" dirty="0">
                <a:latin typeface="Times New Roman" panose="02020603050405020304" pitchFamily="18" charset="0"/>
                <a:cs typeface="Times New Roman" panose="02020603050405020304" pitchFamily="18" charset="0"/>
              </a:rPr>
              <a:t> Dataset paper link: </a:t>
            </a:r>
            <a:r>
              <a:rPr lang="en-US" dirty="0">
                <a:latin typeface="Times New Roman" panose="02020603050405020304" pitchFamily="18" charset="0"/>
                <a:cs typeface="Times New Roman" panose="02020603050405020304" pitchFamily="18" charset="0"/>
                <a:hlinkClick r:id="rId3"/>
              </a:rPr>
              <a:t>https://doi.org/10.48550/arXiv.1911.03854</a:t>
            </a:r>
            <a:endParaRPr lang="en-US" dirty="0">
              <a:latin typeface="Times New Roman" panose="02020603050405020304" pitchFamily="18" charset="0"/>
              <a:cs typeface="Times New Roman" panose="02020603050405020304" pitchFamily="18" charset="0"/>
            </a:endParaRPr>
          </a:p>
          <a:p>
            <a:pPr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21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31ECD3-0607-FE19-EA78-B9C474441411}"/>
              </a:ext>
            </a:extLst>
          </p:cNvPr>
          <p:cNvSpPr txBox="1"/>
          <p:nvPr/>
        </p:nvSpPr>
        <p:spPr>
          <a:xfrm>
            <a:off x="1423416" y="262943"/>
            <a:ext cx="9345168"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 IMPLEMENTATION TOOLS/SOFTWARE (MODELS) </a:t>
            </a:r>
          </a:p>
        </p:txBody>
      </p:sp>
      <p:graphicFrame>
        <p:nvGraphicFramePr>
          <p:cNvPr id="4" name="Table 3">
            <a:extLst>
              <a:ext uri="{FF2B5EF4-FFF2-40B4-BE49-F238E27FC236}">
                <a16:creationId xmlns:a16="http://schemas.microsoft.com/office/drawing/2014/main" id="{BA611CA6-63F8-A47C-3834-04EFB3CD1AF5}"/>
              </a:ext>
            </a:extLst>
          </p:cNvPr>
          <p:cNvGraphicFramePr>
            <a:graphicFrameLocks noGrp="1"/>
          </p:cNvGraphicFramePr>
          <p:nvPr>
            <p:extLst>
              <p:ext uri="{D42A27DB-BD31-4B8C-83A1-F6EECF244321}">
                <p14:modId xmlns:p14="http://schemas.microsoft.com/office/powerpoint/2010/main" val="3423277555"/>
              </p:ext>
            </p:extLst>
          </p:nvPr>
        </p:nvGraphicFramePr>
        <p:xfrm>
          <a:off x="152692" y="1549004"/>
          <a:ext cx="6339548" cy="4735390"/>
        </p:xfrm>
        <a:graphic>
          <a:graphicData uri="http://schemas.openxmlformats.org/drawingml/2006/table">
            <a:tbl>
              <a:tblPr>
                <a:tableStyleId>{5940675A-B579-460E-94D1-54222C63F5DA}</a:tableStyleId>
              </a:tblPr>
              <a:tblGrid>
                <a:gridCol w="3169774">
                  <a:extLst>
                    <a:ext uri="{9D8B030D-6E8A-4147-A177-3AD203B41FA5}">
                      <a16:colId xmlns:a16="http://schemas.microsoft.com/office/drawing/2014/main" val="1169344331"/>
                    </a:ext>
                  </a:extLst>
                </a:gridCol>
                <a:gridCol w="3169774">
                  <a:extLst>
                    <a:ext uri="{9D8B030D-6E8A-4147-A177-3AD203B41FA5}">
                      <a16:colId xmlns:a16="http://schemas.microsoft.com/office/drawing/2014/main" val="2403145144"/>
                    </a:ext>
                  </a:extLst>
                </a:gridCol>
              </a:tblGrid>
              <a:tr h="243539">
                <a:tc>
                  <a:txBody>
                    <a:bodyPr/>
                    <a:lstStyle/>
                    <a:p>
                      <a:pPr algn="l">
                        <a:buNone/>
                      </a:pPr>
                      <a:r>
                        <a:rPr lang="en-IN" sz="1400" dirty="0">
                          <a:latin typeface="Times New Roman" panose="02020603050405020304" pitchFamily="18" charset="0"/>
                          <a:cs typeface="Times New Roman" panose="02020603050405020304" pitchFamily="18" charset="0"/>
                        </a:rPr>
                        <a:t>Tool</a:t>
                      </a:r>
                    </a:p>
                  </a:txBody>
                  <a:tcPr marL="76139" marR="76139" marT="38069" marB="38069" anchor="ctr"/>
                </a:tc>
                <a:tc>
                  <a:txBody>
                    <a:bodyPr/>
                    <a:lstStyle/>
                    <a:p>
                      <a:pPr algn="l">
                        <a:buNone/>
                      </a:pPr>
                      <a:r>
                        <a:rPr lang="en-IN" sz="1400" dirty="0">
                          <a:latin typeface="Times New Roman" panose="02020603050405020304" pitchFamily="18" charset="0"/>
                          <a:cs typeface="Times New Roman" panose="02020603050405020304" pitchFamily="18" charset="0"/>
                        </a:rPr>
                        <a:t>Purpose</a:t>
                      </a:r>
                    </a:p>
                  </a:txBody>
                  <a:tcPr marL="76139" marR="76139" marT="38069" marB="38069" anchor="ctr"/>
                </a:tc>
                <a:extLst>
                  <a:ext uri="{0D108BD9-81ED-4DB2-BD59-A6C34878D82A}">
                    <a16:rowId xmlns:a16="http://schemas.microsoft.com/office/drawing/2014/main" val="709659366"/>
                  </a:ext>
                </a:extLst>
              </a:tr>
              <a:tr h="423028">
                <a:tc>
                  <a:txBody>
                    <a:bodyPr/>
                    <a:lstStyle/>
                    <a:p>
                      <a:pPr algn="l">
                        <a:buNone/>
                      </a:pPr>
                      <a:r>
                        <a:rPr lang="en-IN" sz="1400" dirty="0">
                          <a:latin typeface="Times New Roman" panose="02020603050405020304" pitchFamily="18" charset="0"/>
                          <a:cs typeface="Times New Roman" panose="02020603050405020304" pitchFamily="18" charset="0"/>
                        </a:rPr>
                        <a:t>SBERT                                              </a:t>
                      </a:r>
                    </a:p>
                  </a:txBody>
                  <a:tcPr marL="76139" marR="76139" marT="38069" marB="38069" anchor="ctr"/>
                </a:tc>
                <a:tc>
                  <a:txBody>
                    <a:bodyPr/>
                    <a:lstStyle/>
                    <a:p>
                      <a:pPr algn="l">
                        <a:buNone/>
                      </a:pPr>
                      <a:r>
                        <a:rPr lang="en-IN" sz="1400">
                          <a:latin typeface="Times New Roman" panose="02020603050405020304" pitchFamily="18" charset="0"/>
                          <a:cs typeface="Times New Roman" panose="02020603050405020304" pitchFamily="18" charset="0"/>
                        </a:rPr>
                        <a:t>Generates contextual embeddings from textual data</a:t>
                      </a:r>
                    </a:p>
                  </a:txBody>
                  <a:tcPr marL="76139" marR="76139" marT="38069" marB="38069" anchor="ctr"/>
                </a:tc>
                <a:extLst>
                  <a:ext uri="{0D108BD9-81ED-4DB2-BD59-A6C34878D82A}">
                    <a16:rowId xmlns:a16="http://schemas.microsoft.com/office/drawing/2014/main" val="42898776"/>
                  </a:ext>
                </a:extLst>
              </a:tr>
              <a:tr h="423028">
                <a:tc>
                  <a:txBody>
                    <a:bodyPr/>
                    <a:lstStyle/>
                    <a:p>
                      <a:pPr algn="l">
                        <a:buNone/>
                      </a:pPr>
                      <a:r>
                        <a:rPr lang="en-IN" sz="1400">
                          <a:latin typeface="Times New Roman" panose="02020603050405020304" pitchFamily="18" charset="0"/>
                          <a:cs typeface="Times New Roman" panose="02020603050405020304" pitchFamily="18" charset="0"/>
                        </a:rPr>
                        <a:t>CLIP</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Evaluates semantic consistency between image and text</a:t>
                      </a:r>
                    </a:p>
                  </a:txBody>
                  <a:tcPr marL="76139" marR="76139" marT="38069" marB="38069" anchor="ctr"/>
                </a:tc>
                <a:extLst>
                  <a:ext uri="{0D108BD9-81ED-4DB2-BD59-A6C34878D82A}">
                    <a16:rowId xmlns:a16="http://schemas.microsoft.com/office/drawing/2014/main" val="2449315884"/>
                  </a:ext>
                </a:extLst>
              </a:tr>
              <a:tr h="423028">
                <a:tc>
                  <a:txBody>
                    <a:bodyPr/>
                    <a:lstStyle/>
                    <a:p>
                      <a:pPr algn="l">
                        <a:buNone/>
                      </a:pPr>
                      <a:r>
                        <a:rPr lang="en-IN" sz="1400">
                          <a:latin typeface="Times New Roman" panose="02020603050405020304" pitchFamily="18" charset="0"/>
                          <a:cs typeface="Times New Roman" panose="02020603050405020304" pitchFamily="18" charset="0"/>
                        </a:rPr>
                        <a:t>RAG</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Retrieves external evidence for fact verification</a:t>
                      </a:r>
                    </a:p>
                  </a:txBody>
                  <a:tcPr marL="76139" marR="76139" marT="38069" marB="38069" anchor="ctr"/>
                </a:tc>
                <a:extLst>
                  <a:ext uri="{0D108BD9-81ED-4DB2-BD59-A6C34878D82A}">
                    <a16:rowId xmlns:a16="http://schemas.microsoft.com/office/drawing/2014/main" val="2728407065"/>
                  </a:ext>
                </a:extLst>
              </a:tr>
              <a:tr h="423028">
                <a:tc>
                  <a:txBody>
                    <a:bodyPr/>
                    <a:lstStyle/>
                    <a:p>
                      <a:pPr algn="l">
                        <a:buNone/>
                      </a:pPr>
                      <a:r>
                        <a:rPr lang="en-IN" sz="1400">
                          <a:latin typeface="Times New Roman" panose="02020603050405020304" pitchFamily="18" charset="0"/>
                          <a:cs typeface="Times New Roman" panose="02020603050405020304" pitchFamily="18" charset="0"/>
                        </a:rPr>
                        <a:t>FAISS</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Performs fast similarity search for evidence retrieval</a:t>
                      </a:r>
                    </a:p>
                  </a:txBody>
                  <a:tcPr marL="76139" marR="76139" marT="38069" marB="38069" anchor="ctr"/>
                </a:tc>
                <a:extLst>
                  <a:ext uri="{0D108BD9-81ED-4DB2-BD59-A6C34878D82A}">
                    <a16:rowId xmlns:a16="http://schemas.microsoft.com/office/drawing/2014/main" val="3564281919"/>
                  </a:ext>
                </a:extLst>
              </a:tr>
              <a:tr h="423028">
                <a:tc>
                  <a:txBody>
                    <a:bodyPr/>
                    <a:lstStyle/>
                    <a:p>
                      <a:pPr algn="l">
                        <a:buNone/>
                      </a:pPr>
                      <a:r>
                        <a:rPr lang="en-IN" sz="1400">
                          <a:latin typeface="Times New Roman" panose="02020603050405020304" pitchFamily="18" charset="0"/>
                          <a:cs typeface="Times New Roman" panose="02020603050405020304" pitchFamily="18" charset="0"/>
                        </a:rPr>
                        <a:t>BART-MNLI</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Verifies whether evidence supports or contradicts the claim</a:t>
                      </a:r>
                    </a:p>
                  </a:txBody>
                  <a:tcPr marL="76139" marR="76139" marT="38069" marB="38069" anchor="ctr"/>
                </a:tc>
                <a:extLst>
                  <a:ext uri="{0D108BD9-81ED-4DB2-BD59-A6C34878D82A}">
                    <a16:rowId xmlns:a16="http://schemas.microsoft.com/office/drawing/2014/main" val="2404941339"/>
                  </a:ext>
                </a:extLst>
              </a:tr>
              <a:tr h="423028">
                <a:tc>
                  <a:txBody>
                    <a:bodyPr/>
                    <a:lstStyle/>
                    <a:p>
                      <a:pPr algn="l">
                        <a:buNone/>
                      </a:pPr>
                      <a:r>
                        <a:rPr lang="en-IN" sz="1400">
                          <a:latin typeface="Times New Roman" panose="02020603050405020304" pitchFamily="18" charset="0"/>
                          <a:cs typeface="Times New Roman" panose="02020603050405020304" pitchFamily="18" charset="0"/>
                        </a:rPr>
                        <a:t>LightGBM</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Performs final classification of fake or real news</a:t>
                      </a:r>
                    </a:p>
                  </a:txBody>
                  <a:tcPr marL="76139" marR="76139" marT="38069" marB="38069" anchor="ctr"/>
                </a:tc>
                <a:extLst>
                  <a:ext uri="{0D108BD9-81ED-4DB2-BD59-A6C34878D82A}">
                    <a16:rowId xmlns:a16="http://schemas.microsoft.com/office/drawing/2014/main" val="4233793997"/>
                  </a:ext>
                </a:extLst>
              </a:tr>
              <a:tr h="423028">
                <a:tc>
                  <a:txBody>
                    <a:bodyPr/>
                    <a:lstStyle/>
                    <a:p>
                      <a:pPr algn="l">
                        <a:buNone/>
                      </a:pPr>
                      <a:r>
                        <a:rPr lang="en-IN" sz="1400">
                          <a:latin typeface="Times New Roman" panose="02020603050405020304" pitchFamily="18" charset="0"/>
                          <a:cs typeface="Times New Roman" panose="02020603050405020304" pitchFamily="18" charset="0"/>
                        </a:rPr>
                        <a:t>Gemini API (LLM)</a:t>
                      </a:r>
                    </a:p>
                  </a:txBody>
                  <a:tcPr marL="76139" marR="76139" marT="38069" marB="38069" anchor="ctr"/>
                </a:tc>
                <a:tc>
                  <a:txBody>
                    <a:bodyPr/>
                    <a:lstStyle/>
                    <a:p>
                      <a:pPr algn="l">
                        <a:buNone/>
                      </a:pPr>
                      <a:r>
                        <a:rPr lang="en-IN" sz="1400">
                          <a:latin typeface="Times New Roman" panose="02020603050405020304" pitchFamily="18" charset="0"/>
                          <a:cs typeface="Times New Roman" panose="02020603050405020304" pitchFamily="18" charset="0"/>
                        </a:rPr>
                        <a:t>Generates human-readable explanations</a:t>
                      </a:r>
                    </a:p>
                  </a:txBody>
                  <a:tcPr marL="76139" marR="76139" marT="38069" marB="38069" anchor="ctr"/>
                </a:tc>
                <a:extLst>
                  <a:ext uri="{0D108BD9-81ED-4DB2-BD59-A6C34878D82A}">
                    <a16:rowId xmlns:a16="http://schemas.microsoft.com/office/drawing/2014/main" val="1555266464"/>
                  </a:ext>
                </a:extLst>
              </a:tr>
              <a:tr h="423028">
                <a:tc>
                  <a:txBody>
                    <a:bodyPr/>
                    <a:lstStyle/>
                    <a:p>
                      <a:pPr algn="l">
                        <a:buNone/>
                      </a:pPr>
                      <a:r>
                        <a:rPr lang="en-IN" sz="1400">
                          <a:latin typeface="Times New Roman" panose="02020603050405020304" pitchFamily="18" charset="0"/>
                          <a:cs typeface="Times New Roman" panose="02020603050405020304" pitchFamily="18" charset="0"/>
                        </a:rPr>
                        <a:t>Streamlit</a:t>
                      </a:r>
                    </a:p>
                  </a:txBody>
                  <a:tcPr marL="76139" marR="76139" marT="38069" marB="38069" anchor="ctr"/>
                </a:tc>
                <a:tc>
                  <a:txBody>
                    <a:bodyPr/>
                    <a:lstStyle/>
                    <a:p>
                      <a:pPr algn="l">
                        <a:buNone/>
                      </a:pPr>
                      <a:r>
                        <a:rPr lang="en-US" sz="1400">
                          <a:latin typeface="Times New Roman" panose="02020603050405020304" pitchFamily="18" charset="0"/>
                          <a:cs typeface="Times New Roman" panose="02020603050405020304" pitchFamily="18" charset="0"/>
                        </a:rPr>
                        <a:t>Provides interactive user interface for testing</a:t>
                      </a:r>
                    </a:p>
                  </a:txBody>
                  <a:tcPr marL="76139" marR="76139" marT="38069" marB="38069" anchor="ctr"/>
                </a:tc>
                <a:extLst>
                  <a:ext uri="{0D108BD9-81ED-4DB2-BD59-A6C34878D82A}">
                    <a16:rowId xmlns:a16="http://schemas.microsoft.com/office/drawing/2014/main" val="277071024"/>
                  </a:ext>
                </a:extLst>
              </a:tr>
              <a:tr h="423028">
                <a:tc>
                  <a:txBody>
                    <a:bodyPr/>
                    <a:lstStyle/>
                    <a:p>
                      <a:pPr algn="l">
                        <a:buNone/>
                      </a:pPr>
                      <a:r>
                        <a:rPr lang="en-IN" sz="1400" dirty="0">
                          <a:latin typeface="Times New Roman" panose="02020603050405020304" pitchFamily="18" charset="0"/>
                          <a:cs typeface="Times New Roman" panose="02020603050405020304" pitchFamily="18" charset="0"/>
                        </a:rPr>
                        <a:t>Google </a:t>
                      </a:r>
                      <a:r>
                        <a:rPr lang="en-IN" sz="1400" dirty="0" err="1">
                          <a:latin typeface="Times New Roman" panose="02020603050405020304" pitchFamily="18" charset="0"/>
                          <a:cs typeface="Times New Roman" panose="02020603050405020304" pitchFamily="18" charset="0"/>
                        </a:rPr>
                        <a:t>Colab</a:t>
                      </a:r>
                      <a:endParaRPr lang="en-IN" sz="1400" dirty="0">
                        <a:latin typeface="Times New Roman" panose="02020603050405020304" pitchFamily="18" charset="0"/>
                        <a:cs typeface="Times New Roman" panose="02020603050405020304" pitchFamily="18" charset="0"/>
                      </a:endParaRPr>
                    </a:p>
                  </a:txBody>
                  <a:tcPr marL="76139" marR="76139" marT="38069" marB="38069" anchor="ctr"/>
                </a:tc>
                <a:tc>
                  <a:txBody>
                    <a:bodyPr/>
                    <a:lstStyle/>
                    <a:p>
                      <a:pPr algn="l">
                        <a:buNone/>
                      </a:pPr>
                      <a:r>
                        <a:rPr lang="en-US" sz="1400" dirty="0">
                          <a:latin typeface="Times New Roman" panose="02020603050405020304" pitchFamily="18" charset="0"/>
                          <a:cs typeface="Times New Roman" panose="02020603050405020304" pitchFamily="18" charset="0"/>
                        </a:rPr>
                        <a:t>Used for model training and experimentation</a:t>
                      </a:r>
                    </a:p>
                  </a:txBody>
                  <a:tcPr marL="76139" marR="76139" marT="38069" marB="38069" anchor="ctr"/>
                </a:tc>
                <a:extLst>
                  <a:ext uri="{0D108BD9-81ED-4DB2-BD59-A6C34878D82A}">
                    <a16:rowId xmlns:a16="http://schemas.microsoft.com/office/drawing/2014/main" val="1940646011"/>
                  </a:ext>
                </a:extLst>
              </a:tr>
            </a:tbl>
          </a:graphicData>
        </a:graphic>
      </p:graphicFrame>
      <p:graphicFrame>
        <p:nvGraphicFramePr>
          <p:cNvPr id="5" name="Table 4">
            <a:extLst>
              <a:ext uri="{FF2B5EF4-FFF2-40B4-BE49-F238E27FC236}">
                <a16:creationId xmlns:a16="http://schemas.microsoft.com/office/drawing/2014/main" id="{13C2F3DF-8CD4-BC62-97F5-F9727DF297AF}"/>
              </a:ext>
            </a:extLst>
          </p:cNvPr>
          <p:cNvGraphicFramePr>
            <a:graphicFrameLocks noGrp="1"/>
          </p:cNvGraphicFramePr>
          <p:nvPr>
            <p:extLst>
              <p:ext uri="{D42A27DB-BD31-4B8C-83A1-F6EECF244321}">
                <p14:modId xmlns:p14="http://schemas.microsoft.com/office/powerpoint/2010/main" val="1356146506"/>
              </p:ext>
            </p:extLst>
          </p:nvPr>
        </p:nvGraphicFramePr>
        <p:xfrm>
          <a:off x="7168896" y="2615184"/>
          <a:ext cx="4870412" cy="3116529"/>
        </p:xfrm>
        <a:graphic>
          <a:graphicData uri="http://schemas.openxmlformats.org/drawingml/2006/table">
            <a:tbl>
              <a:tblPr>
                <a:tableStyleId>{5940675A-B579-460E-94D1-54222C63F5DA}</a:tableStyleId>
              </a:tblPr>
              <a:tblGrid>
                <a:gridCol w="2435206">
                  <a:extLst>
                    <a:ext uri="{9D8B030D-6E8A-4147-A177-3AD203B41FA5}">
                      <a16:colId xmlns:a16="http://schemas.microsoft.com/office/drawing/2014/main" val="1282361957"/>
                    </a:ext>
                  </a:extLst>
                </a:gridCol>
                <a:gridCol w="2435206">
                  <a:extLst>
                    <a:ext uri="{9D8B030D-6E8A-4147-A177-3AD203B41FA5}">
                      <a16:colId xmlns:a16="http://schemas.microsoft.com/office/drawing/2014/main" val="1115931003"/>
                    </a:ext>
                  </a:extLst>
                </a:gridCol>
              </a:tblGrid>
              <a:tr h="522783">
                <a:tc>
                  <a:txBody>
                    <a:bodyPr/>
                    <a:lstStyle/>
                    <a:p>
                      <a:pPr>
                        <a:buNone/>
                      </a:pPr>
                      <a:r>
                        <a:rPr lang="en-IN" sz="1400">
                          <a:latin typeface="Times New Roman" panose="02020603050405020304" pitchFamily="18" charset="0"/>
                          <a:cs typeface="Times New Roman" panose="02020603050405020304" pitchFamily="18" charset="0"/>
                        </a:rPr>
                        <a:t>Tool</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1201417853"/>
                  </a:ext>
                </a:extLst>
              </a:tr>
              <a:tr h="690321">
                <a:tc>
                  <a:txBody>
                    <a:bodyPr/>
                    <a:lstStyle/>
                    <a:p>
                      <a:pPr>
                        <a:buNone/>
                      </a:pPr>
                      <a:r>
                        <a:rPr lang="en-IN" sz="1400" dirty="0">
                          <a:latin typeface="Times New Roman" panose="02020603050405020304" pitchFamily="18" charset="0"/>
                          <a:cs typeface="Times New Roman" panose="02020603050405020304" pitchFamily="18" charset="0"/>
                        </a:rPr>
                        <a:t>Laptop/PC</a:t>
                      </a:r>
                    </a:p>
                  </a:txBody>
                  <a:tcPr anchor="ctr"/>
                </a:tc>
                <a:tc>
                  <a:txBody>
                    <a:bodyPr/>
                    <a:lstStyle/>
                    <a:p>
                      <a:pPr>
                        <a:buNone/>
                      </a:pPr>
                      <a:r>
                        <a:rPr lang="en-US" sz="1400">
                          <a:latin typeface="Times New Roman" panose="02020603050405020304" pitchFamily="18" charset="0"/>
                          <a:cs typeface="Times New Roman" panose="02020603050405020304" pitchFamily="18" charset="0"/>
                        </a:rPr>
                        <a:t>Used for model development and execution</a:t>
                      </a:r>
                    </a:p>
                  </a:txBody>
                  <a:tcPr anchor="ctr"/>
                </a:tc>
                <a:extLst>
                  <a:ext uri="{0D108BD9-81ED-4DB2-BD59-A6C34878D82A}">
                    <a16:rowId xmlns:a16="http://schemas.microsoft.com/office/drawing/2014/main" val="4004226233"/>
                  </a:ext>
                </a:extLst>
              </a:tr>
              <a:tr h="690321">
                <a:tc>
                  <a:txBody>
                    <a:bodyPr/>
                    <a:lstStyle/>
                    <a:p>
                      <a:pPr>
                        <a:buNone/>
                      </a:pPr>
                      <a:r>
                        <a:rPr lang="en-IN" sz="1400">
                          <a:latin typeface="Times New Roman" panose="02020603050405020304" pitchFamily="18" charset="0"/>
                          <a:cs typeface="Times New Roman" panose="02020603050405020304" pitchFamily="18" charset="0"/>
                        </a:rPr>
                        <a:t>GPU (Optional)</a:t>
                      </a:r>
                    </a:p>
                  </a:txBody>
                  <a:tcPr anchor="ctr"/>
                </a:tc>
                <a:tc>
                  <a:txBody>
                    <a:bodyPr/>
                    <a:lstStyle/>
                    <a:p>
                      <a:pPr>
                        <a:buNone/>
                      </a:pPr>
                      <a:r>
                        <a:rPr lang="en-US" sz="1400">
                          <a:latin typeface="Times New Roman" panose="02020603050405020304" pitchFamily="18" charset="0"/>
                          <a:cs typeface="Times New Roman" panose="02020603050405020304" pitchFamily="18" charset="0"/>
                        </a:rPr>
                        <a:t>Accelerates training and inference processes</a:t>
                      </a:r>
                    </a:p>
                  </a:txBody>
                  <a:tcPr anchor="ctr"/>
                </a:tc>
                <a:extLst>
                  <a:ext uri="{0D108BD9-81ED-4DB2-BD59-A6C34878D82A}">
                    <a16:rowId xmlns:a16="http://schemas.microsoft.com/office/drawing/2014/main" val="1681123648"/>
                  </a:ext>
                </a:extLst>
              </a:tr>
              <a:tr h="690321">
                <a:tc>
                  <a:txBody>
                    <a:bodyPr/>
                    <a:lstStyle/>
                    <a:p>
                      <a:pPr>
                        <a:buNone/>
                      </a:pPr>
                      <a:r>
                        <a:rPr lang="en-IN" sz="1400">
                          <a:latin typeface="Times New Roman" panose="02020603050405020304" pitchFamily="18" charset="0"/>
                          <a:cs typeface="Times New Roman" panose="02020603050405020304" pitchFamily="18" charset="0"/>
                        </a:rPr>
                        <a:t>Internet Connection</a:t>
                      </a:r>
                    </a:p>
                  </a:txBody>
                  <a:tcPr anchor="ctr"/>
                </a:tc>
                <a:tc>
                  <a:txBody>
                    <a:bodyPr/>
                    <a:lstStyle/>
                    <a:p>
                      <a:pPr>
                        <a:buNone/>
                      </a:pPr>
                      <a:r>
                        <a:rPr lang="en-US" sz="1400">
                          <a:latin typeface="Times New Roman" panose="02020603050405020304" pitchFamily="18" charset="0"/>
                          <a:cs typeface="Times New Roman" panose="02020603050405020304" pitchFamily="18" charset="0"/>
                        </a:rPr>
                        <a:t>Required for API access and data retrieval</a:t>
                      </a:r>
                    </a:p>
                  </a:txBody>
                  <a:tcPr anchor="ctr"/>
                </a:tc>
                <a:extLst>
                  <a:ext uri="{0D108BD9-81ED-4DB2-BD59-A6C34878D82A}">
                    <a16:rowId xmlns:a16="http://schemas.microsoft.com/office/drawing/2014/main" val="3456770880"/>
                  </a:ext>
                </a:extLst>
              </a:tr>
              <a:tr h="522783">
                <a:tc>
                  <a:txBody>
                    <a:bodyPr/>
                    <a:lstStyle/>
                    <a:p>
                      <a:pPr>
                        <a:buNone/>
                      </a:pPr>
                      <a:r>
                        <a:rPr lang="en-IN" sz="1400">
                          <a:latin typeface="Times New Roman" panose="02020603050405020304" pitchFamily="18" charset="0"/>
                          <a:cs typeface="Times New Roman" panose="02020603050405020304" pitchFamily="18" charset="0"/>
                        </a:rPr>
                        <a:t>Storage System</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Stores dataset, models, and results</a:t>
                      </a:r>
                    </a:p>
                  </a:txBody>
                  <a:tcPr anchor="ctr"/>
                </a:tc>
                <a:extLst>
                  <a:ext uri="{0D108BD9-81ED-4DB2-BD59-A6C34878D82A}">
                    <a16:rowId xmlns:a16="http://schemas.microsoft.com/office/drawing/2014/main" val="1522781966"/>
                  </a:ext>
                </a:extLst>
              </a:tr>
            </a:tbl>
          </a:graphicData>
        </a:graphic>
      </p:graphicFrame>
      <p:sp>
        <p:nvSpPr>
          <p:cNvPr id="6" name="TextBox 5">
            <a:extLst>
              <a:ext uri="{FF2B5EF4-FFF2-40B4-BE49-F238E27FC236}">
                <a16:creationId xmlns:a16="http://schemas.microsoft.com/office/drawing/2014/main" id="{1E575271-E43C-5CD0-B8CE-86415D8F9834}"/>
              </a:ext>
            </a:extLst>
          </p:cNvPr>
          <p:cNvSpPr txBox="1"/>
          <p:nvPr/>
        </p:nvSpPr>
        <p:spPr>
          <a:xfrm>
            <a:off x="7488936" y="1988927"/>
            <a:ext cx="443484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HARDWARE TOOLS</a:t>
            </a:r>
          </a:p>
        </p:txBody>
      </p:sp>
      <p:sp>
        <p:nvSpPr>
          <p:cNvPr id="7" name="TextBox 6">
            <a:extLst>
              <a:ext uri="{FF2B5EF4-FFF2-40B4-BE49-F238E27FC236}">
                <a16:creationId xmlns:a16="http://schemas.microsoft.com/office/drawing/2014/main" id="{E684025C-3F6B-1C4E-F5E2-22090D52AE70}"/>
              </a:ext>
            </a:extLst>
          </p:cNvPr>
          <p:cNvSpPr txBox="1"/>
          <p:nvPr/>
        </p:nvSpPr>
        <p:spPr>
          <a:xfrm>
            <a:off x="420624" y="987552"/>
            <a:ext cx="452628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SOFTWARE TOOLS</a:t>
            </a:r>
          </a:p>
        </p:txBody>
      </p:sp>
    </p:spTree>
    <p:extLst>
      <p:ext uri="{BB962C8B-B14F-4D97-AF65-F5344CB8AC3E}">
        <p14:creationId xmlns:p14="http://schemas.microsoft.com/office/powerpoint/2010/main" val="3989546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61ACF3-5B61-F3B6-D81E-F4830537721C}"/>
              </a:ext>
            </a:extLst>
          </p:cNvPr>
          <p:cNvSpPr txBox="1"/>
          <p:nvPr/>
        </p:nvSpPr>
        <p:spPr>
          <a:xfrm>
            <a:off x="1219200" y="406400"/>
            <a:ext cx="9387840"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856A03B5-C607-FBE4-9FC9-D44BE5A0C17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75504" y="2874726"/>
            <a:ext cx="6238642" cy="2709995"/>
          </a:xfrm>
          <a:prstGeom prst="rect">
            <a:avLst/>
          </a:prstGeom>
          <a:noFill/>
          <a:ln>
            <a:noFill/>
          </a:ln>
        </p:spPr>
      </p:pic>
      <p:sp>
        <p:nvSpPr>
          <p:cNvPr id="6" name="TextBox 5">
            <a:extLst>
              <a:ext uri="{FF2B5EF4-FFF2-40B4-BE49-F238E27FC236}">
                <a16:creationId xmlns:a16="http://schemas.microsoft.com/office/drawing/2014/main" id="{9A71D437-0246-5527-0233-0724BC928F0F}"/>
              </a:ext>
            </a:extLst>
          </p:cNvPr>
          <p:cNvSpPr txBox="1"/>
          <p:nvPr/>
        </p:nvSpPr>
        <p:spPr>
          <a:xfrm>
            <a:off x="5445104" y="2278659"/>
            <a:ext cx="516193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EXAMPLE FROM DATASET:</a:t>
            </a:r>
          </a:p>
        </p:txBody>
      </p:sp>
      <p:pic>
        <p:nvPicPr>
          <p:cNvPr id="3" name="Image 13">
            <a:extLst>
              <a:ext uri="{FF2B5EF4-FFF2-40B4-BE49-F238E27FC236}">
                <a16:creationId xmlns:a16="http://schemas.microsoft.com/office/drawing/2014/main" id="{B94A101C-FC4A-4A9F-FAB9-EA07F75BBA99}"/>
              </a:ext>
            </a:extLst>
          </p:cNvPr>
          <p:cNvPicPr>
            <a:picLocks/>
          </p:cNvPicPr>
          <p:nvPr/>
        </p:nvPicPr>
        <p:blipFill>
          <a:blip r:embed="rId3" cstate="print"/>
          <a:stretch>
            <a:fillRect/>
          </a:stretch>
        </p:blipFill>
        <p:spPr>
          <a:xfrm>
            <a:off x="871474" y="2647990"/>
            <a:ext cx="3910838" cy="3350473"/>
          </a:xfrm>
          <a:prstGeom prst="rect">
            <a:avLst/>
          </a:prstGeom>
        </p:spPr>
      </p:pic>
      <p:sp>
        <p:nvSpPr>
          <p:cNvPr id="7" name="TextBox 6">
            <a:extLst>
              <a:ext uri="{FF2B5EF4-FFF2-40B4-BE49-F238E27FC236}">
                <a16:creationId xmlns:a16="http://schemas.microsoft.com/office/drawing/2014/main" id="{B3818294-E01A-45A6-5AF5-7157C6DFF36F}"/>
              </a:ext>
            </a:extLst>
          </p:cNvPr>
          <p:cNvSpPr txBox="1"/>
          <p:nvPr/>
        </p:nvSpPr>
        <p:spPr>
          <a:xfrm>
            <a:off x="422000" y="1980626"/>
            <a:ext cx="516193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Classification report:</a:t>
            </a:r>
          </a:p>
        </p:txBody>
      </p:sp>
    </p:spTree>
    <p:extLst>
      <p:ext uri="{BB962C8B-B14F-4D97-AF65-F5344CB8AC3E}">
        <p14:creationId xmlns:p14="http://schemas.microsoft.com/office/powerpoint/2010/main" val="3493496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BBFB48C8-6738-FF40-ABCE-71A2C879860C}"/>
              </a:ext>
            </a:extLst>
          </p:cNvPr>
          <p:cNvGraphicFramePr>
            <a:graphicFrameLocks noChangeAspect="1"/>
          </p:cNvGraphicFramePr>
          <p:nvPr>
            <p:extLst>
              <p:ext uri="{D42A27DB-BD31-4B8C-83A1-F6EECF244321}">
                <p14:modId xmlns:p14="http://schemas.microsoft.com/office/powerpoint/2010/main" val="4148567519"/>
              </p:ext>
            </p:extLst>
          </p:nvPr>
        </p:nvGraphicFramePr>
        <p:xfrm>
          <a:off x="461709" y="1358900"/>
          <a:ext cx="7630731" cy="2070100"/>
        </p:xfrm>
        <a:graphic>
          <a:graphicData uri="http://schemas.openxmlformats.org/presentationml/2006/ole">
            <mc:AlternateContent xmlns:mc="http://schemas.openxmlformats.org/markup-compatibility/2006">
              <mc:Choice xmlns:v="urn:schemas-microsoft-com:vml" Requires="v">
                <p:oleObj name="Document" r:id="rId2" imgW="7318290" imgH="2070444" progId="Word.Document.12">
                  <p:embed/>
                </p:oleObj>
              </mc:Choice>
              <mc:Fallback>
                <p:oleObj name="Document" r:id="rId2" imgW="7318290" imgH="2070444" progId="Word.Document.12">
                  <p:embed/>
                  <p:pic>
                    <p:nvPicPr>
                      <p:cNvPr id="0" name=""/>
                      <p:cNvPicPr/>
                      <p:nvPr/>
                    </p:nvPicPr>
                    <p:blipFill>
                      <a:blip r:embed="rId3"/>
                      <a:stretch>
                        <a:fillRect/>
                      </a:stretch>
                    </p:blipFill>
                    <p:spPr>
                      <a:xfrm>
                        <a:off x="461709" y="1358900"/>
                        <a:ext cx="7630731" cy="2070100"/>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A51BC081-769C-D784-139A-CCCA68869836}"/>
              </a:ext>
            </a:extLst>
          </p:cNvPr>
          <p:cNvSpPr txBox="1"/>
          <p:nvPr/>
        </p:nvSpPr>
        <p:spPr>
          <a:xfrm>
            <a:off x="1901952" y="438912"/>
            <a:ext cx="7717536"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COMPARISIONS AND ABALATION STUDIES </a:t>
            </a:r>
          </a:p>
        </p:txBody>
      </p:sp>
      <p:graphicFrame>
        <p:nvGraphicFramePr>
          <p:cNvPr id="8" name="Object 7">
            <a:extLst>
              <a:ext uri="{FF2B5EF4-FFF2-40B4-BE49-F238E27FC236}">
                <a16:creationId xmlns:a16="http://schemas.microsoft.com/office/drawing/2014/main" id="{2F5EF366-E7A3-5BF1-3F33-71B3F5CC3773}"/>
              </a:ext>
            </a:extLst>
          </p:cNvPr>
          <p:cNvGraphicFramePr>
            <a:graphicFrameLocks noChangeAspect="1"/>
          </p:cNvGraphicFramePr>
          <p:nvPr>
            <p:extLst>
              <p:ext uri="{D42A27DB-BD31-4B8C-83A1-F6EECF244321}">
                <p14:modId xmlns:p14="http://schemas.microsoft.com/office/powerpoint/2010/main" val="453552858"/>
              </p:ext>
            </p:extLst>
          </p:nvPr>
        </p:nvGraphicFramePr>
        <p:xfrm>
          <a:off x="4680835" y="1560259"/>
          <a:ext cx="9362890" cy="1413573"/>
        </p:xfrm>
        <a:graphic>
          <a:graphicData uri="http://schemas.openxmlformats.org/presentationml/2006/ole">
            <mc:AlternateContent xmlns:mc="http://schemas.openxmlformats.org/markup-compatibility/2006">
              <mc:Choice xmlns:v="urn:schemas-microsoft-com:vml" Requires="v">
                <p:oleObj name="Document" r:id="rId4" imgW="7318290" imgH="1104621" progId="Word.Document.12">
                  <p:embed/>
                </p:oleObj>
              </mc:Choice>
              <mc:Fallback>
                <p:oleObj name="Document" r:id="rId4" imgW="7318290" imgH="1104621" progId="Word.Document.12">
                  <p:embed/>
                  <p:pic>
                    <p:nvPicPr>
                      <p:cNvPr id="0" name=""/>
                      <p:cNvPicPr/>
                      <p:nvPr/>
                    </p:nvPicPr>
                    <p:blipFill>
                      <a:blip r:embed="rId5"/>
                      <a:stretch>
                        <a:fillRect/>
                      </a:stretch>
                    </p:blipFill>
                    <p:spPr>
                      <a:xfrm>
                        <a:off x="4680835" y="1560259"/>
                        <a:ext cx="9362890" cy="1413573"/>
                      </a:xfrm>
                      <a:prstGeom prst="rect">
                        <a:avLst/>
                      </a:prstGeom>
                    </p:spPr>
                  </p:pic>
                </p:oleObj>
              </mc:Fallback>
            </mc:AlternateContent>
          </a:graphicData>
        </a:graphic>
      </p:graphicFrame>
      <p:pic>
        <p:nvPicPr>
          <p:cNvPr id="9" name="Image 3">
            <a:extLst>
              <a:ext uri="{FF2B5EF4-FFF2-40B4-BE49-F238E27FC236}">
                <a16:creationId xmlns:a16="http://schemas.microsoft.com/office/drawing/2014/main" id="{9FFFD372-9EE7-3C46-F20E-6982B8D54158}"/>
              </a:ext>
            </a:extLst>
          </p:cNvPr>
          <p:cNvPicPr>
            <a:picLocks/>
          </p:cNvPicPr>
          <p:nvPr/>
        </p:nvPicPr>
        <p:blipFill>
          <a:blip r:embed="rId6" cstate="print"/>
          <a:stretch>
            <a:fillRect/>
          </a:stretch>
        </p:blipFill>
        <p:spPr>
          <a:xfrm>
            <a:off x="155448" y="3429001"/>
            <a:ext cx="4608575" cy="2834640"/>
          </a:xfrm>
          <a:prstGeom prst="rect">
            <a:avLst/>
          </a:prstGeom>
        </p:spPr>
      </p:pic>
      <p:pic>
        <p:nvPicPr>
          <p:cNvPr id="10" name="Image 4">
            <a:extLst>
              <a:ext uri="{FF2B5EF4-FFF2-40B4-BE49-F238E27FC236}">
                <a16:creationId xmlns:a16="http://schemas.microsoft.com/office/drawing/2014/main" id="{132E6485-E358-E3A8-30FF-0702348F752D}"/>
              </a:ext>
            </a:extLst>
          </p:cNvPr>
          <p:cNvPicPr>
            <a:picLocks/>
          </p:cNvPicPr>
          <p:nvPr/>
        </p:nvPicPr>
        <p:blipFill>
          <a:blip r:embed="rId7" cstate="print"/>
          <a:stretch>
            <a:fillRect/>
          </a:stretch>
        </p:blipFill>
        <p:spPr>
          <a:xfrm>
            <a:off x="5070284" y="3426809"/>
            <a:ext cx="2720404" cy="2323910"/>
          </a:xfrm>
          <a:prstGeom prst="rect">
            <a:avLst/>
          </a:prstGeom>
        </p:spPr>
      </p:pic>
      <p:pic>
        <p:nvPicPr>
          <p:cNvPr id="11" name="Image 5">
            <a:extLst>
              <a:ext uri="{FF2B5EF4-FFF2-40B4-BE49-F238E27FC236}">
                <a16:creationId xmlns:a16="http://schemas.microsoft.com/office/drawing/2014/main" id="{48F3C3F3-5351-B6CB-5E81-C0FAB6584E62}"/>
              </a:ext>
            </a:extLst>
          </p:cNvPr>
          <p:cNvPicPr>
            <a:picLocks/>
          </p:cNvPicPr>
          <p:nvPr/>
        </p:nvPicPr>
        <p:blipFill>
          <a:blip r:embed="rId8" cstate="print"/>
          <a:stretch>
            <a:fillRect/>
          </a:stretch>
        </p:blipFill>
        <p:spPr>
          <a:xfrm>
            <a:off x="7964424" y="3319272"/>
            <a:ext cx="3968496" cy="2496311"/>
          </a:xfrm>
          <a:prstGeom prst="rect">
            <a:avLst/>
          </a:prstGeom>
        </p:spPr>
      </p:pic>
    </p:spTree>
    <p:extLst>
      <p:ext uri="{BB962C8B-B14F-4D97-AF65-F5344CB8AC3E}">
        <p14:creationId xmlns:p14="http://schemas.microsoft.com/office/powerpoint/2010/main" val="3623866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5">
            <a:extLst>
              <a:ext uri="{FF2B5EF4-FFF2-40B4-BE49-F238E27FC236}">
                <a16:creationId xmlns:a16="http://schemas.microsoft.com/office/drawing/2014/main" id="{D30CC274-0FBF-A1DA-3F59-1759A3A83AF0}"/>
              </a:ext>
            </a:extLst>
          </p:cNvPr>
          <p:cNvPicPr>
            <a:picLocks/>
          </p:cNvPicPr>
          <p:nvPr/>
        </p:nvPicPr>
        <p:blipFill>
          <a:blip r:embed="rId2" cstate="print"/>
          <a:stretch>
            <a:fillRect/>
          </a:stretch>
        </p:blipFill>
        <p:spPr>
          <a:xfrm>
            <a:off x="329184" y="1161288"/>
            <a:ext cx="4215384" cy="4864608"/>
          </a:xfrm>
          <a:prstGeom prst="rect">
            <a:avLst/>
          </a:prstGeom>
        </p:spPr>
      </p:pic>
      <p:pic>
        <p:nvPicPr>
          <p:cNvPr id="3" name="Image 16">
            <a:extLst>
              <a:ext uri="{FF2B5EF4-FFF2-40B4-BE49-F238E27FC236}">
                <a16:creationId xmlns:a16="http://schemas.microsoft.com/office/drawing/2014/main" id="{F39FF593-D008-D95E-9665-C4C0E342B220}"/>
              </a:ext>
            </a:extLst>
          </p:cNvPr>
          <p:cNvPicPr>
            <a:picLocks/>
          </p:cNvPicPr>
          <p:nvPr/>
        </p:nvPicPr>
        <p:blipFill>
          <a:blip r:embed="rId3" cstate="print"/>
          <a:stretch>
            <a:fillRect/>
          </a:stretch>
        </p:blipFill>
        <p:spPr>
          <a:xfrm>
            <a:off x="6803136" y="1161288"/>
            <a:ext cx="4041647" cy="4864608"/>
          </a:xfrm>
          <a:prstGeom prst="rect">
            <a:avLst/>
          </a:prstGeom>
        </p:spPr>
      </p:pic>
      <p:sp>
        <p:nvSpPr>
          <p:cNvPr id="4" name="TextBox 3">
            <a:extLst>
              <a:ext uri="{FF2B5EF4-FFF2-40B4-BE49-F238E27FC236}">
                <a16:creationId xmlns:a16="http://schemas.microsoft.com/office/drawing/2014/main" id="{583C407E-C119-06B8-D6DB-B2DF7E82B2F7}"/>
              </a:ext>
            </a:extLst>
          </p:cNvPr>
          <p:cNvSpPr txBox="1"/>
          <p:nvPr/>
        </p:nvSpPr>
        <p:spPr>
          <a:xfrm>
            <a:off x="475488" y="338328"/>
            <a:ext cx="431596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Final Output with Example : Fake news claim</a:t>
            </a:r>
          </a:p>
        </p:txBody>
      </p:sp>
      <p:sp>
        <p:nvSpPr>
          <p:cNvPr id="5" name="TextBox 4">
            <a:extLst>
              <a:ext uri="{FF2B5EF4-FFF2-40B4-BE49-F238E27FC236}">
                <a16:creationId xmlns:a16="http://schemas.microsoft.com/office/drawing/2014/main" id="{AB4C867A-89B7-CE8D-A7E5-A831D3623E28}"/>
              </a:ext>
            </a:extLst>
          </p:cNvPr>
          <p:cNvSpPr txBox="1"/>
          <p:nvPr/>
        </p:nvSpPr>
        <p:spPr>
          <a:xfrm>
            <a:off x="6803136" y="338328"/>
            <a:ext cx="4315968"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Final Output with Example : Real news Claim</a:t>
            </a:r>
          </a:p>
        </p:txBody>
      </p:sp>
    </p:spTree>
    <p:extLst>
      <p:ext uri="{BB962C8B-B14F-4D97-AF65-F5344CB8AC3E}">
        <p14:creationId xmlns:p14="http://schemas.microsoft.com/office/powerpoint/2010/main" val="90801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9996D0-0B39-21BA-61BF-ECA0B17526FB}"/>
              </a:ext>
            </a:extLst>
          </p:cNvPr>
          <p:cNvSpPr txBox="1"/>
          <p:nvPr/>
        </p:nvSpPr>
        <p:spPr>
          <a:xfrm>
            <a:off x="585216" y="1852875"/>
            <a:ext cx="11155680" cy="1704569"/>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This project presents a robust and explainable multimodal fake news detection system that integrates retrieval-based reasoning, image–text verification, semi-supervised learning, and graph analysis. By leveraging large-scale datasets and open-source AI models, the system achieves improved detection performance while remaining cost-effective and suitable for real-world deployment on social media platforms.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8EB6C67-8FCA-8CEB-38DC-123C6B825791}"/>
              </a:ext>
            </a:extLst>
          </p:cNvPr>
          <p:cNvSpPr txBox="1"/>
          <p:nvPr/>
        </p:nvSpPr>
        <p:spPr>
          <a:xfrm>
            <a:off x="1252728" y="630936"/>
            <a:ext cx="9317736"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164677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FCE577-1B5A-9295-B858-F3BBACAE27AC}"/>
              </a:ext>
            </a:extLst>
          </p:cNvPr>
          <p:cNvSpPr>
            <a:spLocks noChangeArrowheads="1"/>
          </p:cNvSpPr>
          <p:nvPr/>
        </p:nvSpPr>
        <p:spPr bwMode="auto">
          <a:xfrm>
            <a:off x="298953" y="1366226"/>
            <a:ext cx="11771127" cy="4473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future, the system can be extended to work with real-time data from social media platforms, allowing it to detect fake news as it spreads rather than after the fact.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advanced multimodal models can be incorporated to improve the system’s ability to understand complex relationships between text and images.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can also be enhanced by studying how fake news spreads over time using graph-based approaches, which can help in identifying viral misinformation patterns.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Expanding the system to support multiple languages would make it more useful in global scenarios where misinformation is not limited to a single language.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Finally, the entire framework can be developed into a scalable application, making it accessible as a web or mobile platform for real-world use. </a:t>
            </a:r>
          </a:p>
        </p:txBody>
      </p:sp>
      <p:sp>
        <p:nvSpPr>
          <p:cNvPr id="3" name="TextBox 2">
            <a:extLst>
              <a:ext uri="{FF2B5EF4-FFF2-40B4-BE49-F238E27FC236}">
                <a16:creationId xmlns:a16="http://schemas.microsoft.com/office/drawing/2014/main" id="{AE6FF9FD-EC67-606E-FA7D-E4EEC8B1025F}"/>
              </a:ext>
            </a:extLst>
          </p:cNvPr>
          <p:cNvSpPr txBox="1"/>
          <p:nvPr/>
        </p:nvSpPr>
        <p:spPr>
          <a:xfrm>
            <a:off x="1014984" y="274320"/>
            <a:ext cx="1015898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FUTURE ENHANCEMENTS</a:t>
            </a:r>
          </a:p>
        </p:txBody>
      </p:sp>
    </p:spTree>
    <p:extLst>
      <p:ext uri="{BB962C8B-B14F-4D97-AF65-F5344CB8AC3E}">
        <p14:creationId xmlns:p14="http://schemas.microsoft.com/office/powerpoint/2010/main" val="1207892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AB2AA5-CFE6-0087-EE66-5AFB21E79135}"/>
              </a:ext>
            </a:extLst>
          </p:cNvPr>
          <p:cNvSpPr txBox="1"/>
          <p:nvPr/>
        </p:nvSpPr>
        <p:spPr>
          <a:xfrm>
            <a:off x="1764792" y="411480"/>
            <a:ext cx="869594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OUTCOME</a:t>
            </a:r>
          </a:p>
        </p:txBody>
      </p:sp>
      <p:pic>
        <p:nvPicPr>
          <p:cNvPr id="3" name="Picture 2">
            <a:extLst>
              <a:ext uri="{FF2B5EF4-FFF2-40B4-BE49-F238E27FC236}">
                <a16:creationId xmlns:a16="http://schemas.microsoft.com/office/drawing/2014/main" id="{2ED309EF-003A-8752-B6B3-C4A38D53124F}"/>
              </a:ext>
            </a:extLst>
          </p:cNvPr>
          <p:cNvPicPr>
            <a:picLocks noChangeAspect="1"/>
          </p:cNvPicPr>
          <p:nvPr/>
        </p:nvPicPr>
        <p:blipFill>
          <a:blip r:embed="rId2"/>
          <a:stretch>
            <a:fillRect/>
          </a:stretch>
        </p:blipFill>
        <p:spPr>
          <a:xfrm>
            <a:off x="1007516" y="1318202"/>
            <a:ext cx="10210495" cy="5128318"/>
          </a:xfrm>
          <a:prstGeom prst="rect">
            <a:avLst/>
          </a:prstGeom>
        </p:spPr>
      </p:pic>
    </p:spTree>
    <p:extLst>
      <p:ext uri="{BB962C8B-B14F-4D97-AF65-F5344CB8AC3E}">
        <p14:creationId xmlns:p14="http://schemas.microsoft.com/office/powerpoint/2010/main" val="260508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0B1F02-C7A7-0982-EF7A-1C9A7C4F45BA}"/>
              </a:ext>
            </a:extLst>
          </p:cNvPr>
          <p:cNvSpPr txBox="1"/>
          <p:nvPr/>
        </p:nvSpPr>
        <p:spPr>
          <a:xfrm>
            <a:off x="1563330" y="383458"/>
            <a:ext cx="8583561"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REFERENCES</a:t>
            </a:r>
          </a:p>
        </p:txBody>
      </p:sp>
      <p:sp>
        <p:nvSpPr>
          <p:cNvPr id="5" name="Rectangle 2">
            <a:extLst>
              <a:ext uri="{FF2B5EF4-FFF2-40B4-BE49-F238E27FC236}">
                <a16:creationId xmlns:a16="http://schemas.microsoft.com/office/drawing/2014/main" id="{F933FDF4-4BAB-43F6-D0F8-9E374B80CF8C}"/>
              </a:ext>
            </a:extLst>
          </p:cNvPr>
          <p:cNvSpPr>
            <a:spLocks noChangeArrowheads="1"/>
          </p:cNvSpPr>
          <p:nvPr/>
        </p:nvSpPr>
        <p:spPr bwMode="auto">
          <a:xfrm>
            <a:off x="1157018" y="895672"/>
            <a:ext cx="9726805"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1] W. Benaouda, S. </a:t>
            </a:r>
            <a:r>
              <a:rPr lang="en-US" altLang="en-US" sz="1400" dirty="0" err="1">
                <a:latin typeface="Times New Roman" panose="02020603050405020304" pitchFamily="18" charset="0"/>
                <a:cs typeface="Times New Roman" panose="02020603050405020304" pitchFamily="18" charset="0"/>
              </a:rPr>
              <a:t>Ouamour</a:t>
            </a:r>
            <a:r>
              <a:rPr lang="en-US" altLang="en-US" sz="1400" dirty="0">
                <a:latin typeface="Times New Roman" panose="02020603050405020304" pitchFamily="18" charset="0"/>
                <a:cs typeface="Times New Roman" panose="02020603050405020304" pitchFamily="18" charset="0"/>
              </a:rPr>
              <a:t>, and H. Sayoud, "Comparison of CNN Model with Different Machine Learning Models for Fake News Detection," in 2024 1st International Conference on Electrical, Computer, Telecommunication and Energy Technologies (ECTE-Tech), 2024, pp. 1-6,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10.1109/ECTE-TECH62477.2024.10851137.</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[2] M. K. Çoban and G. Bakal, "NLP-Driven Fake News Detection: A Machine Learning Perspective," in 2025 7th International Congress on Human-Computer Interaction, Optimization and Robotic Applications (ICHORA), 2025, pp. 1-6,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10.1109/ICHORA65333.2025.11017210.</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[3]K. Reddy R, S. Sumanth B, Pragnya P, D. Reddy P, and Dr. P. M. </a:t>
            </a:r>
            <a:r>
              <a:rPr lang="en-US" altLang="en-US" sz="1400" dirty="0" err="1">
                <a:latin typeface="Times New Roman" panose="02020603050405020304" pitchFamily="18" charset="0"/>
                <a:cs typeface="Times New Roman" panose="02020603050405020304" pitchFamily="18" charset="0"/>
              </a:rPr>
              <a:t>Jyosthna</a:t>
            </a:r>
            <a:r>
              <a:rPr lang="en-US" altLang="en-US" sz="1400" dirty="0">
                <a:latin typeface="Times New Roman" panose="02020603050405020304" pitchFamily="18" charset="0"/>
                <a:cs typeface="Times New Roman" panose="02020603050405020304" pitchFamily="18" charset="0"/>
              </a:rPr>
              <a:t>, "Multi-Modal Fake News Detection with MF-BERT," in 2025 International Conference on Computing Technologies (ICOCT), 2025, pp. 1-6,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10.1109/ICOCT64433.2025.11118703.</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[4] Y. Zhou, Q. Ying, Z. Qian, S. Li, and X. Zhang, "Multimodal Fake News Detection via CLIP-Guided Learning," </a:t>
            </a:r>
            <a:r>
              <a:rPr lang="en-US" altLang="en-US" sz="1400" dirty="0" err="1">
                <a:latin typeface="Times New Roman" panose="02020603050405020304" pitchFamily="18" charset="0"/>
                <a:cs typeface="Times New Roman" panose="02020603050405020304" pitchFamily="18" charset="0"/>
              </a:rPr>
              <a:t>arXiv</a:t>
            </a:r>
            <a:r>
              <a:rPr lang="en-US" altLang="en-US" sz="1400" dirty="0">
                <a:latin typeface="Times New Roman" panose="02020603050405020304" pitchFamily="18" charset="0"/>
                <a:cs typeface="Times New Roman" panose="02020603050405020304" pitchFamily="18" charset="0"/>
              </a:rPr>
              <a:t> preprint arXiv:2205.14304, 2022.</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[5] S. Mishra, S. Arora, N. Kumar, O. Agarwal, and C. Mehta, "Graph Neural Networks for the Development of Efficient Fake News Detection," in 2025 International Conference on Cognitive Computing in Engineering, Communications, Sciences and Biomedical Health Informatics (IC3ECSBHI), 2025, pp. 1011-1014,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10.1109/IC3ECSBHI63591.2025.10990891.</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[6] Y. Bai and K. Fu, "A Large Language Model-based Fake News Detection Framework with RAG Fact-Checking," in 2024 IEEE International Conference on Big Data (Big Data), 2024, pp. 8617-8619,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10.1109/BigData62323.2024.10826000.</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400" dirty="0">
                <a:latin typeface="Times New Roman" panose="02020603050405020304" pitchFamily="18" charset="0"/>
                <a:cs typeface="Times New Roman" panose="02020603050405020304" pitchFamily="18" charset="0"/>
              </a:rPr>
              <a:t>[7] V. S. P. Turaga and A. S. </a:t>
            </a:r>
            <a:r>
              <a:rPr lang="en-US" altLang="en-US" sz="1400" dirty="0" err="1">
                <a:latin typeface="Times New Roman" panose="02020603050405020304" pitchFamily="18" charset="0"/>
                <a:cs typeface="Times New Roman" panose="02020603050405020304" pitchFamily="18" charset="0"/>
              </a:rPr>
              <a:t>Namin</a:t>
            </a:r>
            <a:r>
              <a:rPr lang="en-US" altLang="en-US" sz="1400" dirty="0">
                <a:latin typeface="Times New Roman" panose="02020603050405020304" pitchFamily="18" charset="0"/>
                <a:cs typeface="Times New Roman" panose="02020603050405020304" pitchFamily="18" charset="0"/>
              </a:rPr>
              <a:t>, "An Information Reliability Framework for Detecting Misinformation based on Large Language Models," in 2024 IEEE International Conference on Big Data (Big Data), 2024, pp. 3599-3607, </a:t>
            </a:r>
            <a:r>
              <a:rPr lang="en-US" altLang="en-US" sz="1400" dirty="0" err="1">
                <a:latin typeface="Times New Roman" panose="02020603050405020304" pitchFamily="18" charset="0"/>
                <a:cs typeface="Times New Roman" panose="02020603050405020304" pitchFamily="18" charset="0"/>
              </a:rPr>
              <a:t>doi</a:t>
            </a:r>
            <a:r>
              <a:rPr lang="en-US" altLang="en-US" sz="1400" dirty="0">
                <a:latin typeface="Times New Roman" panose="02020603050405020304" pitchFamily="18" charset="0"/>
                <a:cs typeface="Times New Roman" panose="02020603050405020304" pitchFamily="18" charset="0"/>
              </a:rPr>
              <a:t>: 10.1109/BigData62323.2024.10826052.</a:t>
            </a:r>
          </a:p>
          <a:p>
            <a:pPr lvl="0" eaLnBrk="0" fontAlgn="base" hangingPunct="0">
              <a:spcBef>
                <a:spcPct val="0"/>
              </a:spcBef>
              <a:spcAft>
                <a:spcPct val="0"/>
              </a:spcAft>
            </a:pPr>
            <a:endParaRPr lang="en-US" altLang="en-US" sz="1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093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56A94B-C089-DC50-AB7B-D9819A13BF8D}"/>
              </a:ext>
            </a:extLst>
          </p:cNvPr>
          <p:cNvSpPr txBox="1"/>
          <p:nvPr/>
        </p:nvSpPr>
        <p:spPr>
          <a:xfrm>
            <a:off x="1455174" y="432619"/>
            <a:ext cx="8927691"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TIMELINE OF THE PROJECT</a:t>
            </a:r>
          </a:p>
        </p:txBody>
      </p:sp>
      <p:graphicFrame>
        <p:nvGraphicFramePr>
          <p:cNvPr id="3" name="Table 2">
            <a:extLst>
              <a:ext uri="{FF2B5EF4-FFF2-40B4-BE49-F238E27FC236}">
                <a16:creationId xmlns:a16="http://schemas.microsoft.com/office/drawing/2014/main" id="{A21DC1A5-A18F-0CFE-FD8B-8D2BF1166396}"/>
              </a:ext>
            </a:extLst>
          </p:cNvPr>
          <p:cNvGraphicFramePr>
            <a:graphicFrameLocks noGrp="1"/>
          </p:cNvGraphicFramePr>
          <p:nvPr>
            <p:extLst>
              <p:ext uri="{D42A27DB-BD31-4B8C-83A1-F6EECF244321}">
                <p14:modId xmlns:p14="http://schemas.microsoft.com/office/powerpoint/2010/main" val="2910097398"/>
              </p:ext>
            </p:extLst>
          </p:nvPr>
        </p:nvGraphicFramePr>
        <p:xfrm>
          <a:off x="1455174" y="1058687"/>
          <a:ext cx="9173497" cy="4829384"/>
        </p:xfrm>
        <a:graphic>
          <a:graphicData uri="http://schemas.openxmlformats.org/drawingml/2006/table">
            <a:tbl>
              <a:tblPr firstRow="1" bandRow="1">
                <a:tableStyleId>{B301B821-A1FF-4177-AEE7-76D212191A09}</a:tableStyleId>
              </a:tblPr>
              <a:tblGrid>
                <a:gridCol w="2680207">
                  <a:extLst>
                    <a:ext uri="{9D8B030D-6E8A-4147-A177-3AD203B41FA5}">
                      <a16:colId xmlns:a16="http://schemas.microsoft.com/office/drawing/2014/main" val="20000"/>
                    </a:ext>
                  </a:extLst>
                </a:gridCol>
                <a:gridCol w="1722333">
                  <a:extLst>
                    <a:ext uri="{9D8B030D-6E8A-4147-A177-3AD203B41FA5}">
                      <a16:colId xmlns:a16="http://schemas.microsoft.com/office/drawing/2014/main" val="20001"/>
                    </a:ext>
                  </a:extLst>
                </a:gridCol>
                <a:gridCol w="1574968">
                  <a:extLst>
                    <a:ext uri="{9D8B030D-6E8A-4147-A177-3AD203B41FA5}">
                      <a16:colId xmlns:a16="http://schemas.microsoft.com/office/drawing/2014/main" val="20002"/>
                    </a:ext>
                  </a:extLst>
                </a:gridCol>
                <a:gridCol w="1528952">
                  <a:extLst>
                    <a:ext uri="{9D8B030D-6E8A-4147-A177-3AD203B41FA5}">
                      <a16:colId xmlns:a16="http://schemas.microsoft.com/office/drawing/2014/main" val="20003"/>
                    </a:ext>
                  </a:extLst>
                </a:gridCol>
                <a:gridCol w="1667037">
                  <a:extLst>
                    <a:ext uri="{9D8B030D-6E8A-4147-A177-3AD203B41FA5}">
                      <a16:colId xmlns:a16="http://schemas.microsoft.com/office/drawing/2014/main" val="20004"/>
                    </a:ext>
                  </a:extLst>
                </a:gridCol>
              </a:tblGrid>
              <a:tr h="543937">
                <a:tc>
                  <a:txBody>
                    <a:bodyPr/>
                    <a:lstStyle/>
                    <a:p>
                      <a:pPr algn="ctr"/>
                      <a:r>
                        <a:rPr lang="en-IN" sz="2000" b="1" dirty="0">
                          <a:latin typeface="Times New Roman" panose="02020603050405020304" pitchFamily="18" charset="0"/>
                          <a:cs typeface="Times New Roman" panose="02020603050405020304" pitchFamily="18" charset="0"/>
                        </a:rPr>
                        <a:t>Task</a:t>
                      </a:r>
                    </a:p>
                  </a:txBody>
                  <a:tcPr marL="137365" marR="137365" marT="68683" marB="68683">
                    <a:lnR w="12700" cap="flat" cmpd="sng" algn="ctr">
                      <a:solidFill>
                        <a:schemeClr val="tx1"/>
                      </a:solidFill>
                      <a:prstDash val="solid"/>
                      <a:round/>
                      <a:headEnd type="none" w="med" len="med"/>
                      <a:tailEnd type="none" w="med" len="med"/>
                    </a:lnR>
                  </a:tcPr>
                </a:tc>
                <a:tc>
                  <a:txBody>
                    <a:bodyPr/>
                    <a:lstStyle/>
                    <a:p>
                      <a:pPr algn="ctr"/>
                      <a:r>
                        <a:rPr lang="en-IN" sz="2000" dirty="0">
                          <a:latin typeface="Times New Roman" panose="02020603050405020304" pitchFamily="18" charset="0"/>
                          <a:cs typeface="Times New Roman" panose="02020603050405020304" pitchFamily="18" charset="0"/>
                        </a:rPr>
                        <a:t>December</a:t>
                      </a:r>
                    </a:p>
                  </a:txBody>
                  <a:tcPr marL="137365" marR="137365" marT="68683" marB="68683">
                    <a:lnL w="12700" cap="flat" cmpd="sng" algn="ctr">
                      <a:solidFill>
                        <a:schemeClr val="tx1"/>
                      </a:solidFill>
                      <a:prstDash val="solid"/>
                      <a:round/>
                      <a:headEnd type="none" w="med" len="med"/>
                      <a:tailEnd type="none" w="med" len="med"/>
                    </a:lnL>
                  </a:tcPr>
                </a:tc>
                <a:tc>
                  <a:txBody>
                    <a:bodyPr/>
                    <a:lstStyle/>
                    <a:p>
                      <a:pPr algn="ctr"/>
                      <a:r>
                        <a:rPr lang="en-IN" sz="2000" dirty="0">
                          <a:latin typeface="Times New Roman" panose="02020603050405020304" pitchFamily="18" charset="0"/>
                          <a:cs typeface="Times New Roman" panose="02020603050405020304" pitchFamily="18" charset="0"/>
                        </a:rPr>
                        <a:t>January</a:t>
                      </a:r>
                    </a:p>
                  </a:txBody>
                  <a:tcPr marL="137365" marR="137365" marT="68683" marB="68683"/>
                </a:tc>
                <a:tc>
                  <a:txBody>
                    <a:bodyPr/>
                    <a:lstStyle/>
                    <a:p>
                      <a:pPr algn="ctr"/>
                      <a:r>
                        <a:rPr lang="en-IN" sz="2000" dirty="0">
                          <a:latin typeface="Times New Roman" panose="02020603050405020304" pitchFamily="18" charset="0"/>
                          <a:cs typeface="Times New Roman" panose="02020603050405020304" pitchFamily="18" charset="0"/>
                        </a:rPr>
                        <a:t>February</a:t>
                      </a:r>
                    </a:p>
                  </a:txBody>
                  <a:tcPr marL="137365" marR="137365" marT="68683" marB="68683"/>
                </a:tc>
                <a:tc>
                  <a:txBody>
                    <a:bodyPr/>
                    <a:lstStyle/>
                    <a:p>
                      <a:pPr algn="ctr"/>
                      <a:r>
                        <a:rPr lang="en-IN" sz="2000" dirty="0">
                          <a:latin typeface="Times New Roman" panose="02020603050405020304" pitchFamily="18" charset="0"/>
                          <a:cs typeface="Times New Roman" panose="02020603050405020304" pitchFamily="18" charset="0"/>
                        </a:rPr>
                        <a:t>March</a:t>
                      </a:r>
                    </a:p>
                  </a:txBody>
                  <a:tcPr marL="137365" marR="137365" marT="68683" marB="68683"/>
                </a:tc>
                <a:extLst>
                  <a:ext uri="{0D108BD9-81ED-4DB2-BD59-A6C34878D82A}">
                    <a16:rowId xmlns:a16="http://schemas.microsoft.com/office/drawing/2014/main" val="10000"/>
                  </a:ext>
                </a:extLst>
              </a:tr>
              <a:tr h="520549">
                <a:tc>
                  <a:txBody>
                    <a:bodyPr/>
                    <a:lstStyle/>
                    <a:p>
                      <a:pPr algn="ctr"/>
                      <a:r>
                        <a:rPr lang="en-IN" sz="2000" dirty="0">
                          <a:latin typeface="Times New Roman" panose="02020603050405020304" pitchFamily="18" charset="0"/>
                          <a:cs typeface="Times New Roman" panose="02020603050405020304" pitchFamily="18" charset="0"/>
                        </a:rPr>
                        <a:t>Literature Review</a:t>
                      </a:r>
                    </a:p>
                  </a:txBody>
                  <a:tcPr marL="137365" marR="137365" marT="68683" marB="68683">
                    <a:lnR w="12700" cap="flat" cmpd="sng" algn="ctr">
                      <a:solidFill>
                        <a:schemeClr val="tx1"/>
                      </a:solidFill>
                      <a:prstDash val="solid"/>
                      <a:round/>
                      <a:headEnd type="none" w="med" len="med"/>
                      <a:tailEnd type="none" w="med" len="med"/>
                    </a:lnR>
                  </a:tcPr>
                </a:tc>
                <a:tc>
                  <a:txBody>
                    <a:bodyPr/>
                    <a:lstStyle/>
                    <a:p>
                      <a:pPr algn="ctr"/>
                      <a:endParaRPr lang="en-IN" sz="2000" dirty="0"/>
                    </a:p>
                  </a:txBody>
                  <a:tcPr marL="137365" marR="137365" marT="68683" marB="68683">
                    <a:lnL w="12700" cap="flat" cmpd="sng" algn="ctr">
                      <a:solidFill>
                        <a:schemeClr val="tx1"/>
                      </a:solidFill>
                      <a:prstDash val="solid"/>
                      <a:round/>
                      <a:headEnd type="none" w="med" len="med"/>
                      <a:tailEnd type="none" w="med" len="med"/>
                    </a:lnL>
                  </a:tcPr>
                </a:tc>
                <a:tc>
                  <a:txBody>
                    <a:bodyPr/>
                    <a:lstStyle/>
                    <a:p>
                      <a:pPr algn="ctr"/>
                      <a:endParaRPr lang="en-IN" sz="2000" dirty="0"/>
                    </a:p>
                  </a:txBody>
                  <a:tcPr marL="137365" marR="137365" marT="68683" marB="68683"/>
                </a:tc>
                <a:tc>
                  <a:txBody>
                    <a:bodyPr/>
                    <a:lstStyle/>
                    <a:p>
                      <a:pPr algn="ctr"/>
                      <a:endParaRPr lang="en-IN" sz="2000" dirty="0"/>
                    </a:p>
                  </a:txBody>
                  <a:tcPr marL="137365" marR="137365" marT="68683" marB="68683"/>
                </a:tc>
                <a:tc>
                  <a:txBody>
                    <a:bodyPr/>
                    <a:lstStyle/>
                    <a:p>
                      <a:pPr algn="ctr"/>
                      <a:endParaRPr lang="en-IN" sz="2000" dirty="0"/>
                    </a:p>
                  </a:txBody>
                  <a:tcPr marL="137365" marR="137365" marT="68683" marB="68683"/>
                </a:tc>
                <a:extLst>
                  <a:ext uri="{0D108BD9-81ED-4DB2-BD59-A6C34878D82A}">
                    <a16:rowId xmlns:a16="http://schemas.microsoft.com/office/drawing/2014/main" val="10001"/>
                  </a:ext>
                </a:extLst>
              </a:tr>
              <a:tr h="618111">
                <a:tc>
                  <a:txBody>
                    <a:bodyPr/>
                    <a:lstStyle/>
                    <a:p>
                      <a:pPr algn="ctr"/>
                      <a:r>
                        <a:rPr lang="en-US" sz="2000" dirty="0">
                          <a:latin typeface="Times New Roman" panose="02020603050405020304" pitchFamily="18" charset="0"/>
                          <a:cs typeface="Times New Roman" panose="02020603050405020304" pitchFamily="18" charset="0"/>
                        </a:rPr>
                        <a:t>Data Set and Basic Preprocessing  </a:t>
                      </a:r>
                      <a:endParaRPr lang="en-IN" sz="2000" dirty="0">
                        <a:latin typeface="Times New Roman" panose="02020603050405020304" pitchFamily="18" charset="0"/>
                        <a:cs typeface="Times New Roman" panose="02020603050405020304" pitchFamily="18" charset="0"/>
                      </a:endParaRPr>
                    </a:p>
                  </a:txBody>
                  <a:tcPr marL="137365" marR="137365" marT="68683" marB="68683">
                    <a:lnR w="12700" cap="flat" cmpd="sng" algn="ctr">
                      <a:solidFill>
                        <a:schemeClr val="tx1"/>
                      </a:solidFill>
                      <a:prstDash val="solid"/>
                      <a:round/>
                      <a:headEnd type="none" w="med" len="med"/>
                      <a:tailEnd type="none" w="med" len="med"/>
                    </a:lnR>
                  </a:tcPr>
                </a:tc>
                <a:tc>
                  <a:txBody>
                    <a:bodyPr/>
                    <a:lstStyle/>
                    <a:p>
                      <a:pPr algn="ctr"/>
                      <a:endParaRPr lang="en-IN" sz="2000" dirty="0"/>
                    </a:p>
                  </a:txBody>
                  <a:tcPr marL="137365" marR="137365" marT="68683" marB="68683">
                    <a:lnL w="12700" cap="flat" cmpd="sng" algn="ctr">
                      <a:solidFill>
                        <a:schemeClr val="tx1"/>
                      </a:solidFill>
                      <a:prstDash val="solid"/>
                      <a:round/>
                      <a:headEnd type="none" w="med" len="med"/>
                      <a:tailEnd type="none" w="med" len="med"/>
                    </a:lnL>
                  </a:tcPr>
                </a:tc>
                <a:tc>
                  <a:txBody>
                    <a:bodyPr/>
                    <a:lstStyle/>
                    <a:p>
                      <a:pPr algn="ctr"/>
                      <a:endParaRPr lang="en-IN" sz="2000" dirty="0"/>
                    </a:p>
                  </a:txBody>
                  <a:tcPr marL="137365" marR="137365" marT="68683" marB="68683"/>
                </a:tc>
                <a:tc>
                  <a:txBody>
                    <a:bodyPr/>
                    <a:lstStyle/>
                    <a:p>
                      <a:pPr algn="ctr"/>
                      <a:endParaRPr lang="en-IN" sz="2000"/>
                    </a:p>
                  </a:txBody>
                  <a:tcPr marL="137365" marR="137365" marT="68683" marB="68683"/>
                </a:tc>
                <a:tc>
                  <a:txBody>
                    <a:bodyPr/>
                    <a:lstStyle/>
                    <a:p>
                      <a:pPr algn="ctr"/>
                      <a:endParaRPr lang="en-IN" sz="2000"/>
                    </a:p>
                  </a:txBody>
                  <a:tcPr marL="137365" marR="137365" marT="68683" marB="68683"/>
                </a:tc>
                <a:extLst>
                  <a:ext uri="{0D108BD9-81ED-4DB2-BD59-A6C34878D82A}">
                    <a16:rowId xmlns:a16="http://schemas.microsoft.com/office/drawing/2014/main" val="10002"/>
                  </a:ext>
                </a:extLst>
              </a:tr>
              <a:tr h="865817">
                <a:tc>
                  <a:txBody>
                    <a:bodyPr/>
                    <a:lstStyle/>
                    <a:p>
                      <a:pPr algn="ctr"/>
                      <a:r>
                        <a:rPr lang="en-US" sz="2000" dirty="0">
                          <a:latin typeface="Times New Roman" panose="02020603050405020304" pitchFamily="18" charset="0"/>
                          <a:cs typeface="Times New Roman" panose="02020603050405020304" pitchFamily="18" charset="0"/>
                        </a:rPr>
                        <a:t>Implementing RAG model completely and Ablation studies</a:t>
                      </a:r>
                      <a:endParaRPr lang="en-IN" sz="2000" dirty="0">
                        <a:latin typeface="Times New Roman" panose="02020603050405020304" pitchFamily="18" charset="0"/>
                        <a:cs typeface="Times New Roman" panose="02020603050405020304" pitchFamily="18" charset="0"/>
                      </a:endParaRPr>
                    </a:p>
                  </a:txBody>
                  <a:tcPr marL="137365" marR="137365" marT="68683" marB="68683">
                    <a:lnR w="12700" cap="flat" cmpd="sng" algn="ctr">
                      <a:solidFill>
                        <a:schemeClr val="tx1"/>
                      </a:solidFill>
                      <a:prstDash val="solid"/>
                      <a:round/>
                      <a:headEnd type="none" w="med" len="med"/>
                      <a:tailEnd type="none" w="med" len="med"/>
                    </a:lnR>
                  </a:tcPr>
                </a:tc>
                <a:tc>
                  <a:txBody>
                    <a:bodyPr/>
                    <a:lstStyle/>
                    <a:p>
                      <a:pPr algn="ctr"/>
                      <a:endParaRPr lang="en-IN" sz="2000" dirty="0"/>
                    </a:p>
                  </a:txBody>
                  <a:tcPr marL="137365" marR="137365" marT="68683" marB="68683">
                    <a:lnL w="12700" cap="flat" cmpd="sng" algn="ctr">
                      <a:solidFill>
                        <a:schemeClr val="tx1"/>
                      </a:solidFill>
                      <a:prstDash val="solid"/>
                      <a:round/>
                      <a:headEnd type="none" w="med" len="med"/>
                      <a:tailEnd type="none" w="med" len="med"/>
                    </a:lnL>
                  </a:tcPr>
                </a:tc>
                <a:tc>
                  <a:txBody>
                    <a:bodyPr/>
                    <a:lstStyle/>
                    <a:p>
                      <a:pPr algn="ctr"/>
                      <a:endParaRPr lang="en-IN" sz="2000" dirty="0"/>
                    </a:p>
                  </a:txBody>
                  <a:tcPr marL="137365" marR="137365" marT="68683" marB="68683"/>
                </a:tc>
                <a:tc>
                  <a:txBody>
                    <a:bodyPr/>
                    <a:lstStyle/>
                    <a:p>
                      <a:pPr algn="ctr"/>
                      <a:endParaRPr lang="en-IN" sz="2000"/>
                    </a:p>
                  </a:txBody>
                  <a:tcPr marL="137365" marR="137365" marT="68683" marB="68683"/>
                </a:tc>
                <a:tc>
                  <a:txBody>
                    <a:bodyPr/>
                    <a:lstStyle/>
                    <a:p>
                      <a:pPr algn="ctr"/>
                      <a:endParaRPr lang="en-IN" sz="2000" dirty="0"/>
                    </a:p>
                  </a:txBody>
                  <a:tcPr marL="137365" marR="137365" marT="68683" marB="68683"/>
                </a:tc>
                <a:extLst>
                  <a:ext uri="{0D108BD9-81ED-4DB2-BD59-A6C34878D82A}">
                    <a16:rowId xmlns:a16="http://schemas.microsoft.com/office/drawing/2014/main" val="10003"/>
                  </a:ext>
                </a:extLst>
              </a:tr>
              <a:tr h="1869467">
                <a:tc>
                  <a:txBody>
                    <a:bodyPr/>
                    <a:lstStyle/>
                    <a:p>
                      <a:pPr algn="ctr"/>
                      <a:r>
                        <a:rPr lang="en-IN" sz="2000" dirty="0">
                          <a:latin typeface="Times New Roman" panose="02020603050405020304" pitchFamily="18" charset="0"/>
                          <a:cs typeface="Times New Roman" panose="02020603050405020304" pitchFamily="18" charset="0"/>
                        </a:rPr>
                        <a:t>Accessing LLM for Final Output and Testing the Model for Report Analysis and Deploying the End Goal</a:t>
                      </a:r>
                    </a:p>
                  </a:txBody>
                  <a:tcPr marL="137365" marR="137365" marT="68683" marB="68683">
                    <a:lnR w="12700" cap="flat" cmpd="sng" algn="ctr">
                      <a:solidFill>
                        <a:schemeClr val="tx1"/>
                      </a:solidFill>
                      <a:prstDash val="solid"/>
                      <a:round/>
                      <a:headEnd type="none" w="med" len="med"/>
                      <a:tailEnd type="none" w="med" len="med"/>
                    </a:lnR>
                  </a:tcPr>
                </a:tc>
                <a:tc>
                  <a:txBody>
                    <a:bodyPr/>
                    <a:lstStyle/>
                    <a:p>
                      <a:pPr algn="ctr"/>
                      <a:endParaRPr lang="en-IN" sz="2000"/>
                    </a:p>
                  </a:txBody>
                  <a:tcPr marL="137365" marR="137365" marT="68683" marB="68683">
                    <a:lnL w="12700" cap="flat" cmpd="sng" algn="ctr">
                      <a:solidFill>
                        <a:schemeClr val="tx1"/>
                      </a:solidFill>
                      <a:prstDash val="solid"/>
                      <a:round/>
                      <a:headEnd type="none" w="med" len="med"/>
                      <a:tailEnd type="none" w="med" len="med"/>
                    </a:lnL>
                  </a:tcPr>
                </a:tc>
                <a:tc>
                  <a:txBody>
                    <a:bodyPr/>
                    <a:lstStyle/>
                    <a:p>
                      <a:pPr algn="ctr"/>
                      <a:endParaRPr lang="en-IN" sz="2000" dirty="0"/>
                    </a:p>
                  </a:txBody>
                  <a:tcPr marL="137365" marR="137365" marT="68683" marB="68683"/>
                </a:tc>
                <a:tc>
                  <a:txBody>
                    <a:bodyPr/>
                    <a:lstStyle/>
                    <a:p>
                      <a:pPr algn="ctr"/>
                      <a:endParaRPr lang="en-IN" sz="2000" dirty="0"/>
                    </a:p>
                  </a:txBody>
                  <a:tcPr marL="137365" marR="137365" marT="68683" marB="68683"/>
                </a:tc>
                <a:tc>
                  <a:txBody>
                    <a:bodyPr/>
                    <a:lstStyle/>
                    <a:p>
                      <a:pPr algn="ctr"/>
                      <a:endParaRPr lang="en-IN" sz="2000" dirty="0"/>
                    </a:p>
                  </a:txBody>
                  <a:tcPr marL="137365" marR="137365" marT="68683" marB="68683"/>
                </a:tc>
                <a:extLst>
                  <a:ext uri="{0D108BD9-81ED-4DB2-BD59-A6C34878D82A}">
                    <a16:rowId xmlns:a16="http://schemas.microsoft.com/office/drawing/2014/main" val="3080301513"/>
                  </a:ext>
                </a:extLst>
              </a:tr>
            </a:tbl>
          </a:graphicData>
        </a:graphic>
      </p:graphicFrame>
      <p:sp>
        <p:nvSpPr>
          <p:cNvPr id="4" name="Rectangle 3">
            <a:extLst>
              <a:ext uri="{FF2B5EF4-FFF2-40B4-BE49-F238E27FC236}">
                <a16:creationId xmlns:a16="http://schemas.microsoft.com/office/drawing/2014/main" id="{0F3B0E40-B93B-DDD2-B5ED-DABCEF93EB7B}"/>
              </a:ext>
            </a:extLst>
          </p:cNvPr>
          <p:cNvSpPr/>
          <p:nvPr/>
        </p:nvSpPr>
        <p:spPr>
          <a:xfrm>
            <a:off x="4394163" y="1749985"/>
            <a:ext cx="2556388" cy="324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0CB18636-ACDE-FFD6-0D14-07FFE6B6AF5A}"/>
              </a:ext>
            </a:extLst>
          </p:cNvPr>
          <p:cNvSpPr/>
          <p:nvPr/>
        </p:nvSpPr>
        <p:spPr>
          <a:xfrm>
            <a:off x="5819841" y="2314397"/>
            <a:ext cx="2556388" cy="324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6744F99-C8EA-97C7-BB14-242E7CF447DF}"/>
              </a:ext>
            </a:extLst>
          </p:cNvPr>
          <p:cNvSpPr/>
          <p:nvPr/>
        </p:nvSpPr>
        <p:spPr>
          <a:xfrm>
            <a:off x="4575162" y="3167927"/>
            <a:ext cx="5211097" cy="324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B380A89D-DA5E-B3E4-FFA0-35506E47F8B9}"/>
              </a:ext>
            </a:extLst>
          </p:cNvPr>
          <p:cNvSpPr/>
          <p:nvPr/>
        </p:nvSpPr>
        <p:spPr>
          <a:xfrm>
            <a:off x="9147162" y="4527999"/>
            <a:ext cx="1278194" cy="324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194676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D4DDC5-76B5-91B2-0142-7FE0C7DE8423}"/>
              </a:ext>
            </a:extLst>
          </p:cNvPr>
          <p:cNvPicPr>
            <a:picLocks noChangeAspect="1"/>
          </p:cNvPicPr>
          <p:nvPr/>
        </p:nvPicPr>
        <p:blipFill>
          <a:blip r:embed="rId2"/>
          <a:stretch>
            <a:fillRect/>
          </a:stretch>
        </p:blipFill>
        <p:spPr>
          <a:xfrm>
            <a:off x="231684" y="1268362"/>
            <a:ext cx="12069039" cy="4365756"/>
          </a:xfrm>
          <a:prstGeom prst="rect">
            <a:avLst/>
          </a:prstGeom>
        </p:spPr>
      </p:pic>
    </p:spTree>
    <p:extLst>
      <p:ext uri="{BB962C8B-B14F-4D97-AF65-F5344CB8AC3E}">
        <p14:creationId xmlns:p14="http://schemas.microsoft.com/office/powerpoint/2010/main" val="1148567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27FB7C-7E0D-1292-8F24-33668BA95DA4}"/>
              </a:ext>
            </a:extLst>
          </p:cNvPr>
          <p:cNvSpPr/>
          <p:nvPr/>
        </p:nvSpPr>
        <p:spPr>
          <a:xfrm>
            <a:off x="1371600" y="1161288"/>
            <a:ext cx="9272016" cy="3941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9600" i="1" dirty="0">
                <a:ln w="0"/>
                <a:solidFill>
                  <a:schemeClr val="tx1"/>
                </a:solidFill>
                <a:effectLst>
                  <a:outerShdw blurRad="60007" dir="1500000" sy="-30000" kx="800400" algn="bl" rotWithShape="0">
                    <a:prstClr val="black">
                      <a:alpha val="20000"/>
                    </a:prstClr>
                  </a:outerShdw>
                </a:effectLst>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9434403"/>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Gradient rise</Template>
  <TotalTime>885</TotalTime>
  <Words>2115</Words>
  <Application>Microsoft Office PowerPoint</Application>
  <PresentationFormat>Widescreen</PresentationFormat>
  <Paragraphs>175</Paragraphs>
  <Slides>23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1" baseType="lpstr">
      <vt:lpstr>Aparajita</vt:lpstr>
      <vt:lpstr>Arial</vt:lpstr>
      <vt:lpstr>Arial Black</vt:lpstr>
      <vt:lpstr>Avenir Next LT Pro</vt:lpstr>
      <vt:lpstr>Avenir Next LT Pro Light</vt:lpstr>
      <vt:lpstr>Times New Roman</vt:lpstr>
      <vt:lpstr>GradientRiseVTI</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Madakasira Hari Srinivas</dc:creator>
  <cp:lastModifiedBy>Madakasira Hari Srinivas</cp:lastModifiedBy>
  <cp:revision>91</cp:revision>
  <dcterms:created xsi:type="dcterms:W3CDTF">2025-07-21T17:57:34Z</dcterms:created>
  <dcterms:modified xsi:type="dcterms:W3CDTF">2026-04-30T03:40:08Z</dcterms:modified>
</cp:coreProperties>
</file>